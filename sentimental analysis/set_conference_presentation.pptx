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9" r:id="rId3"/>
    <p:sldId id="257" r:id="rId4"/>
    <p:sldId id="259" r:id="rId5"/>
    <p:sldId id="260" r:id="rId6"/>
    <p:sldId id="275" r:id="rId7"/>
    <p:sldId id="262" r:id="rId8"/>
    <p:sldId id="267" r:id="rId9"/>
    <p:sldId id="263" r:id="rId10"/>
    <p:sldId id="268" r:id="rId11"/>
    <p:sldId id="278" r:id="rId12"/>
    <p:sldId id="258" r:id="rId13"/>
    <p:sldId id="272" r:id="rId14"/>
    <p:sldId id="277" r:id="rId15"/>
    <p:sldId id="273" r:id="rId16"/>
    <p:sldId id="279" r:id="rId17"/>
    <p:sldId id="266" r:id="rId18"/>
    <p:sldId id="276"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252407D-A290-4DD8-B791-00F93D6C3EDF}">
          <p14:sldIdLst>
            <p14:sldId id="256"/>
            <p14:sldId id="269"/>
            <p14:sldId id="257"/>
            <p14:sldId id="259"/>
            <p14:sldId id="260"/>
            <p14:sldId id="275"/>
            <p14:sldId id="262"/>
            <p14:sldId id="267"/>
            <p14:sldId id="263"/>
            <p14:sldId id="268"/>
            <p14:sldId id="278"/>
            <p14:sldId id="258"/>
            <p14:sldId id="272"/>
            <p14:sldId id="277"/>
            <p14:sldId id="273"/>
            <p14:sldId id="279"/>
            <p14:sldId id="266"/>
            <p14:sldId id="276"/>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DA579-EF51-D12C-D473-071AB3042CF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E1627CC-8B80-DB67-2782-91996C077A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CD7CCAB-890A-91B1-9052-6AE32D4CB224}"/>
              </a:ext>
            </a:extLst>
          </p:cNvPr>
          <p:cNvSpPr>
            <a:spLocks noGrp="1"/>
          </p:cNvSpPr>
          <p:nvPr>
            <p:ph type="dt" sz="half" idx="10"/>
          </p:nvPr>
        </p:nvSpPr>
        <p:spPr/>
        <p:txBody>
          <a:bodyPr/>
          <a:lstStyle/>
          <a:p>
            <a:fld id="{2E5748FA-C200-4991-B356-E7EDD8452316}" type="datetimeFigureOut">
              <a:rPr lang="en-IN" smtClean="0"/>
              <a:t>06-11-2025</a:t>
            </a:fld>
            <a:endParaRPr lang="en-IN"/>
          </a:p>
        </p:txBody>
      </p:sp>
      <p:sp>
        <p:nvSpPr>
          <p:cNvPr id="5" name="Footer Placeholder 4">
            <a:extLst>
              <a:ext uri="{FF2B5EF4-FFF2-40B4-BE49-F238E27FC236}">
                <a16:creationId xmlns:a16="http://schemas.microsoft.com/office/drawing/2014/main" id="{1F390EF3-DD49-47DB-A16D-E67D74C0CB4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49EFA5B-B505-F992-B1F7-06B5D3513161}"/>
              </a:ext>
            </a:extLst>
          </p:cNvPr>
          <p:cNvSpPr>
            <a:spLocks noGrp="1"/>
          </p:cNvSpPr>
          <p:nvPr>
            <p:ph type="sldNum" sz="quarter" idx="12"/>
          </p:nvPr>
        </p:nvSpPr>
        <p:spPr/>
        <p:txBody>
          <a:bodyPr/>
          <a:lstStyle/>
          <a:p>
            <a:fld id="{38395EF4-F07A-4367-BB89-E965510DC0EE}" type="slidenum">
              <a:rPr lang="en-IN" smtClean="0"/>
              <a:t>‹#›</a:t>
            </a:fld>
            <a:endParaRPr lang="en-IN"/>
          </a:p>
        </p:txBody>
      </p:sp>
    </p:spTree>
    <p:extLst>
      <p:ext uri="{BB962C8B-B14F-4D97-AF65-F5344CB8AC3E}">
        <p14:creationId xmlns:p14="http://schemas.microsoft.com/office/powerpoint/2010/main" val="12929379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6DDE3-0015-BBA5-2CCE-657B6389A2F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B6B1E4E-B7A0-B3FE-BFD8-840A9C866B2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37C6A85-BD9A-0A9A-11D2-CF09B6ADE188}"/>
              </a:ext>
            </a:extLst>
          </p:cNvPr>
          <p:cNvSpPr>
            <a:spLocks noGrp="1"/>
          </p:cNvSpPr>
          <p:nvPr>
            <p:ph type="dt" sz="half" idx="10"/>
          </p:nvPr>
        </p:nvSpPr>
        <p:spPr/>
        <p:txBody>
          <a:bodyPr/>
          <a:lstStyle/>
          <a:p>
            <a:fld id="{2E5748FA-C200-4991-B356-E7EDD8452316}" type="datetimeFigureOut">
              <a:rPr lang="en-IN" smtClean="0"/>
              <a:t>06-11-2025</a:t>
            </a:fld>
            <a:endParaRPr lang="en-IN"/>
          </a:p>
        </p:txBody>
      </p:sp>
      <p:sp>
        <p:nvSpPr>
          <p:cNvPr id="5" name="Footer Placeholder 4">
            <a:extLst>
              <a:ext uri="{FF2B5EF4-FFF2-40B4-BE49-F238E27FC236}">
                <a16:creationId xmlns:a16="http://schemas.microsoft.com/office/drawing/2014/main" id="{86D37E33-8DC2-A4DA-EC5C-8BAF47F26C6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DF893C7-B134-38E7-8344-E778B77C1A53}"/>
              </a:ext>
            </a:extLst>
          </p:cNvPr>
          <p:cNvSpPr>
            <a:spLocks noGrp="1"/>
          </p:cNvSpPr>
          <p:nvPr>
            <p:ph type="sldNum" sz="quarter" idx="12"/>
          </p:nvPr>
        </p:nvSpPr>
        <p:spPr/>
        <p:txBody>
          <a:bodyPr/>
          <a:lstStyle/>
          <a:p>
            <a:fld id="{38395EF4-F07A-4367-BB89-E965510DC0EE}" type="slidenum">
              <a:rPr lang="en-IN" smtClean="0"/>
              <a:t>‹#›</a:t>
            </a:fld>
            <a:endParaRPr lang="en-IN"/>
          </a:p>
        </p:txBody>
      </p:sp>
    </p:spTree>
    <p:extLst>
      <p:ext uri="{BB962C8B-B14F-4D97-AF65-F5344CB8AC3E}">
        <p14:creationId xmlns:p14="http://schemas.microsoft.com/office/powerpoint/2010/main" val="8284766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F7242-1987-AB7C-4893-E507E01967D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75AC6F4-312A-30C1-A4CB-51B33F63387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3FC027A-151D-E6F1-BA95-99E4E35DBFBA}"/>
              </a:ext>
            </a:extLst>
          </p:cNvPr>
          <p:cNvSpPr>
            <a:spLocks noGrp="1"/>
          </p:cNvSpPr>
          <p:nvPr>
            <p:ph type="dt" sz="half" idx="10"/>
          </p:nvPr>
        </p:nvSpPr>
        <p:spPr/>
        <p:txBody>
          <a:bodyPr/>
          <a:lstStyle/>
          <a:p>
            <a:fld id="{2E5748FA-C200-4991-B356-E7EDD8452316}" type="datetimeFigureOut">
              <a:rPr lang="en-IN" smtClean="0"/>
              <a:t>06-11-2025</a:t>
            </a:fld>
            <a:endParaRPr lang="en-IN"/>
          </a:p>
        </p:txBody>
      </p:sp>
      <p:sp>
        <p:nvSpPr>
          <p:cNvPr id="5" name="Footer Placeholder 4">
            <a:extLst>
              <a:ext uri="{FF2B5EF4-FFF2-40B4-BE49-F238E27FC236}">
                <a16:creationId xmlns:a16="http://schemas.microsoft.com/office/drawing/2014/main" id="{ADE9DA68-E54C-5BA4-9F3B-76EA01B7FF4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D2E517E-C789-2B3E-E522-5F8FEBAE6684}"/>
              </a:ext>
            </a:extLst>
          </p:cNvPr>
          <p:cNvSpPr>
            <a:spLocks noGrp="1"/>
          </p:cNvSpPr>
          <p:nvPr>
            <p:ph type="sldNum" sz="quarter" idx="12"/>
          </p:nvPr>
        </p:nvSpPr>
        <p:spPr/>
        <p:txBody>
          <a:bodyPr/>
          <a:lstStyle/>
          <a:p>
            <a:fld id="{38395EF4-F07A-4367-BB89-E965510DC0EE}" type="slidenum">
              <a:rPr lang="en-IN" smtClean="0"/>
              <a:t>‹#›</a:t>
            </a:fld>
            <a:endParaRPr lang="en-IN"/>
          </a:p>
        </p:txBody>
      </p:sp>
    </p:spTree>
    <p:extLst>
      <p:ext uri="{BB962C8B-B14F-4D97-AF65-F5344CB8AC3E}">
        <p14:creationId xmlns:p14="http://schemas.microsoft.com/office/powerpoint/2010/main" val="26132964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B50ED-A290-735E-C930-B2CF053591C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D9EC122-CB37-66BA-DD8A-171E76A8287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25F5099-5612-E596-A723-71BCFCD274C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21BA80F-EE1C-6CEA-06B0-CECA29D12336}"/>
              </a:ext>
            </a:extLst>
          </p:cNvPr>
          <p:cNvSpPr>
            <a:spLocks noGrp="1"/>
          </p:cNvSpPr>
          <p:nvPr>
            <p:ph type="dt" sz="half" idx="10"/>
          </p:nvPr>
        </p:nvSpPr>
        <p:spPr/>
        <p:txBody>
          <a:bodyPr/>
          <a:lstStyle/>
          <a:p>
            <a:fld id="{2E5748FA-C200-4991-B356-E7EDD8452316}" type="datetimeFigureOut">
              <a:rPr lang="en-IN" smtClean="0"/>
              <a:t>06-11-2025</a:t>
            </a:fld>
            <a:endParaRPr lang="en-IN"/>
          </a:p>
        </p:txBody>
      </p:sp>
      <p:sp>
        <p:nvSpPr>
          <p:cNvPr id="6" name="Footer Placeholder 5">
            <a:extLst>
              <a:ext uri="{FF2B5EF4-FFF2-40B4-BE49-F238E27FC236}">
                <a16:creationId xmlns:a16="http://schemas.microsoft.com/office/drawing/2014/main" id="{FCC9F391-D903-5F96-4A18-67AA2138040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EA25323-8E96-195C-BBBE-EF72B67C5CDB}"/>
              </a:ext>
            </a:extLst>
          </p:cNvPr>
          <p:cNvSpPr>
            <a:spLocks noGrp="1"/>
          </p:cNvSpPr>
          <p:nvPr>
            <p:ph type="sldNum" sz="quarter" idx="12"/>
          </p:nvPr>
        </p:nvSpPr>
        <p:spPr/>
        <p:txBody>
          <a:bodyPr/>
          <a:lstStyle/>
          <a:p>
            <a:fld id="{38395EF4-F07A-4367-BB89-E965510DC0EE}" type="slidenum">
              <a:rPr lang="en-IN" smtClean="0"/>
              <a:t>‹#›</a:t>
            </a:fld>
            <a:endParaRPr lang="en-IN"/>
          </a:p>
        </p:txBody>
      </p:sp>
    </p:spTree>
    <p:extLst>
      <p:ext uri="{BB962C8B-B14F-4D97-AF65-F5344CB8AC3E}">
        <p14:creationId xmlns:p14="http://schemas.microsoft.com/office/powerpoint/2010/main" val="2266775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7845F-E179-37DE-ADBC-33C34CD5CE8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36CAD6F-7680-ED28-0985-30BD8454FC8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DD0C94-CBB9-1D29-A299-08D233564E3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668777B-7F72-F899-F6E2-D7061ED5AC1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8D6F4C-FCA8-7404-172C-2716F9F235C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64E73F0-4A99-743B-38C4-99D0EB34B630}"/>
              </a:ext>
            </a:extLst>
          </p:cNvPr>
          <p:cNvSpPr>
            <a:spLocks noGrp="1"/>
          </p:cNvSpPr>
          <p:nvPr>
            <p:ph type="dt" sz="half" idx="10"/>
          </p:nvPr>
        </p:nvSpPr>
        <p:spPr/>
        <p:txBody>
          <a:bodyPr/>
          <a:lstStyle/>
          <a:p>
            <a:fld id="{2E5748FA-C200-4991-B356-E7EDD8452316}" type="datetimeFigureOut">
              <a:rPr lang="en-IN" smtClean="0"/>
              <a:t>06-11-2025</a:t>
            </a:fld>
            <a:endParaRPr lang="en-IN"/>
          </a:p>
        </p:txBody>
      </p:sp>
      <p:sp>
        <p:nvSpPr>
          <p:cNvPr id="8" name="Footer Placeholder 7">
            <a:extLst>
              <a:ext uri="{FF2B5EF4-FFF2-40B4-BE49-F238E27FC236}">
                <a16:creationId xmlns:a16="http://schemas.microsoft.com/office/drawing/2014/main" id="{8141EC23-2741-A84B-8CF5-2AAB07AFCD9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538C951-C757-1499-5F55-CBEAF0C9D002}"/>
              </a:ext>
            </a:extLst>
          </p:cNvPr>
          <p:cNvSpPr>
            <a:spLocks noGrp="1"/>
          </p:cNvSpPr>
          <p:nvPr>
            <p:ph type="sldNum" sz="quarter" idx="12"/>
          </p:nvPr>
        </p:nvSpPr>
        <p:spPr/>
        <p:txBody>
          <a:bodyPr/>
          <a:lstStyle/>
          <a:p>
            <a:fld id="{38395EF4-F07A-4367-BB89-E965510DC0EE}" type="slidenum">
              <a:rPr lang="en-IN" smtClean="0"/>
              <a:t>‹#›</a:t>
            </a:fld>
            <a:endParaRPr lang="en-IN"/>
          </a:p>
        </p:txBody>
      </p:sp>
    </p:spTree>
    <p:extLst>
      <p:ext uri="{BB962C8B-B14F-4D97-AF65-F5344CB8AC3E}">
        <p14:creationId xmlns:p14="http://schemas.microsoft.com/office/powerpoint/2010/main" val="17962544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EC095-6C0A-9F8D-B278-5425C71570A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44F75E3-1C28-2883-BBFB-13EC59EF9C4C}"/>
              </a:ext>
            </a:extLst>
          </p:cNvPr>
          <p:cNvSpPr>
            <a:spLocks noGrp="1"/>
          </p:cNvSpPr>
          <p:nvPr>
            <p:ph type="dt" sz="half" idx="10"/>
          </p:nvPr>
        </p:nvSpPr>
        <p:spPr/>
        <p:txBody>
          <a:bodyPr/>
          <a:lstStyle/>
          <a:p>
            <a:fld id="{2E5748FA-C200-4991-B356-E7EDD8452316}" type="datetimeFigureOut">
              <a:rPr lang="en-IN" smtClean="0"/>
              <a:t>06-11-2025</a:t>
            </a:fld>
            <a:endParaRPr lang="en-IN"/>
          </a:p>
        </p:txBody>
      </p:sp>
      <p:sp>
        <p:nvSpPr>
          <p:cNvPr id="4" name="Footer Placeholder 3">
            <a:extLst>
              <a:ext uri="{FF2B5EF4-FFF2-40B4-BE49-F238E27FC236}">
                <a16:creationId xmlns:a16="http://schemas.microsoft.com/office/drawing/2014/main" id="{BF7E2709-499D-209C-2B14-E8DA3CFE2B2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2BC72E3-2F87-ECA5-B94D-59B40E5C34D4}"/>
              </a:ext>
            </a:extLst>
          </p:cNvPr>
          <p:cNvSpPr>
            <a:spLocks noGrp="1"/>
          </p:cNvSpPr>
          <p:nvPr>
            <p:ph type="sldNum" sz="quarter" idx="12"/>
          </p:nvPr>
        </p:nvSpPr>
        <p:spPr/>
        <p:txBody>
          <a:bodyPr/>
          <a:lstStyle/>
          <a:p>
            <a:fld id="{38395EF4-F07A-4367-BB89-E965510DC0EE}" type="slidenum">
              <a:rPr lang="en-IN" smtClean="0"/>
              <a:t>‹#›</a:t>
            </a:fld>
            <a:endParaRPr lang="en-IN"/>
          </a:p>
        </p:txBody>
      </p:sp>
    </p:spTree>
    <p:extLst>
      <p:ext uri="{BB962C8B-B14F-4D97-AF65-F5344CB8AC3E}">
        <p14:creationId xmlns:p14="http://schemas.microsoft.com/office/powerpoint/2010/main" val="28135080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349D91C-B92B-0AD7-4249-926497CF2322}"/>
              </a:ext>
            </a:extLst>
          </p:cNvPr>
          <p:cNvSpPr>
            <a:spLocks noGrp="1"/>
          </p:cNvSpPr>
          <p:nvPr>
            <p:ph type="dt" sz="half" idx="10"/>
          </p:nvPr>
        </p:nvSpPr>
        <p:spPr/>
        <p:txBody>
          <a:bodyPr/>
          <a:lstStyle/>
          <a:p>
            <a:fld id="{2E5748FA-C200-4991-B356-E7EDD8452316}" type="datetimeFigureOut">
              <a:rPr lang="en-IN" smtClean="0"/>
              <a:t>06-11-2025</a:t>
            </a:fld>
            <a:endParaRPr lang="en-IN"/>
          </a:p>
        </p:txBody>
      </p:sp>
      <p:sp>
        <p:nvSpPr>
          <p:cNvPr id="3" name="Footer Placeholder 2">
            <a:extLst>
              <a:ext uri="{FF2B5EF4-FFF2-40B4-BE49-F238E27FC236}">
                <a16:creationId xmlns:a16="http://schemas.microsoft.com/office/drawing/2014/main" id="{D9A0E3CB-1B18-3F15-3382-0BD4AAD3345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C443554-9259-CD4B-52BB-183C7CD7721D}"/>
              </a:ext>
            </a:extLst>
          </p:cNvPr>
          <p:cNvSpPr>
            <a:spLocks noGrp="1"/>
          </p:cNvSpPr>
          <p:nvPr>
            <p:ph type="sldNum" sz="quarter" idx="12"/>
          </p:nvPr>
        </p:nvSpPr>
        <p:spPr/>
        <p:txBody>
          <a:bodyPr/>
          <a:lstStyle/>
          <a:p>
            <a:fld id="{38395EF4-F07A-4367-BB89-E965510DC0EE}" type="slidenum">
              <a:rPr lang="en-IN" smtClean="0"/>
              <a:t>‹#›</a:t>
            </a:fld>
            <a:endParaRPr lang="en-IN"/>
          </a:p>
        </p:txBody>
      </p:sp>
    </p:spTree>
    <p:extLst>
      <p:ext uri="{BB962C8B-B14F-4D97-AF65-F5344CB8AC3E}">
        <p14:creationId xmlns:p14="http://schemas.microsoft.com/office/powerpoint/2010/main" val="21787296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40273-B576-6526-9215-1A782681F1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1A089A2-094C-9FBD-C948-9A6B4B7AC97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CC86794-2A7D-BA8A-F4D9-7AE2E8D036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BA188E-7BDE-5693-8979-6AABD8F80443}"/>
              </a:ext>
            </a:extLst>
          </p:cNvPr>
          <p:cNvSpPr>
            <a:spLocks noGrp="1"/>
          </p:cNvSpPr>
          <p:nvPr>
            <p:ph type="dt" sz="half" idx="10"/>
          </p:nvPr>
        </p:nvSpPr>
        <p:spPr/>
        <p:txBody>
          <a:bodyPr/>
          <a:lstStyle/>
          <a:p>
            <a:fld id="{2E5748FA-C200-4991-B356-E7EDD8452316}" type="datetimeFigureOut">
              <a:rPr lang="en-IN" smtClean="0"/>
              <a:t>06-11-2025</a:t>
            </a:fld>
            <a:endParaRPr lang="en-IN"/>
          </a:p>
        </p:txBody>
      </p:sp>
      <p:sp>
        <p:nvSpPr>
          <p:cNvPr id="6" name="Footer Placeholder 5">
            <a:extLst>
              <a:ext uri="{FF2B5EF4-FFF2-40B4-BE49-F238E27FC236}">
                <a16:creationId xmlns:a16="http://schemas.microsoft.com/office/drawing/2014/main" id="{04F1AAB7-8109-7A7F-995A-111E8C79B77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E19132C-D9A0-761E-733E-D6D3F50D1689}"/>
              </a:ext>
            </a:extLst>
          </p:cNvPr>
          <p:cNvSpPr>
            <a:spLocks noGrp="1"/>
          </p:cNvSpPr>
          <p:nvPr>
            <p:ph type="sldNum" sz="quarter" idx="12"/>
          </p:nvPr>
        </p:nvSpPr>
        <p:spPr/>
        <p:txBody>
          <a:bodyPr/>
          <a:lstStyle/>
          <a:p>
            <a:fld id="{38395EF4-F07A-4367-BB89-E965510DC0EE}" type="slidenum">
              <a:rPr lang="en-IN" smtClean="0"/>
              <a:t>‹#›</a:t>
            </a:fld>
            <a:endParaRPr lang="en-IN"/>
          </a:p>
        </p:txBody>
      </p:sp>
    </p:spTree>
    <p:extLst>
      <p:ext uri="{BB962C8B-B14F-4D97-AF65-F5344CB8AC3E}">
        <p14:creationId xmlns:p14="http://schemas.microsoft.com/office/powerpoint/2010/main" val="6704412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36891-DC23-07E3-065E-50F919FEFE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EA865A0-D7BE-DA7C-2099-71E9BBC30FC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42100B9-6689-5D18-47D7-8053EE9426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34A09B-1E93-8F65-ED79-91F08C5556DB}"/>
              </a:ext>
            </a:extLst>
          </p:cNvPr>
          <p:cNvSpPr>
            <a:spLocks noGrp="1"/>
          </p:cNvSpPr>
          <p:nvPr>
            <p:ph type="dt" sz="half" idx="10"/>
          </p:nvPr>
        </p:nvSpPr>
        <p:spPr/>
        <p:txBody>
          <a:bodyPr/>
          <a:lstStyle/>
          <a:p>
            <a:fld id="{2E5748FA-C200-4991-B356-E7EDD8452316}" type="datetimeFigureOut">
              <a:rPr lang="en-IN" smtClean="0"/>
              <a:t>06-11-2025</a:t>
            </a:fld>
            <a:endParaRPr lang="en-IN"/>
          </a:p>
        </p:txBody>
      </p:sp>
      <p:sp>
        <p:nvSpPr>
          <p:cNvPr id="6" name="Footer Placeholder 5">
            <a:extLst>
              <a:ext uri="{FF2B5EF4-FFF2-40B4-BE49-F238E27FC236}">
                <a16:creationId xmlns:a16="http://schemas.microsoft.com/office/drawing/2014/main" id="{64B206E7-C259-6897-A85F-F679F2429D6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B843499-66F8-5286-22EA-7DF518ED3E8C}"/>
              </a:ext>
            </a:extLst>
          </p:cNvPr>
          <p:cNvSpPr>
            <a:spLocks noGrp="1"/>
          </p:cNvSpPr>
          <p:nvPr>
            <p:ph type="sldNum" sz="quarter" idx="12"/>
          </p:nvPr>
        </p:nvSpPr>
        <p:spPr/>
        <p:txBody>
          <a:bodyPr/>
          <a:lstStyle/>
          <a:p>
            <a:fld id="{38395EF4-F07A-4367-BB89-E965510DC0EE}" type="slidenum">
              <a:rPr lang="en-IN" smtClean="0"/>
              <a:t>‹#›</a:t>
            </a:fld>
            <a:endParaRPr lang="en-IN"/>
          </a:p>
        </p:txBody>
      </p:sp>
    </p:spTree>
    <p:extLst>
      <p:ext uri="{BB962C8B-B14F-4D97-AF65-F5344CB8AC3E}">
        <p14:creationId xmlns:p14="http://schemas.microsoft.com/office/powerpoint/2010/main" val="27804330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45210-8C62-52FA-DDF0-7822C7A6E94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1FF1BA8-7658-FBD4-3821-A6EF241A49F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0E3A5A3-9F04-338E-F6E5-74BBD14AA791}"/>
              </a:ext>
            </a:extLst>
          </p:cNvPr>
          <p:cNvSpPr>
            <a:spLocks noGrp="1"/>
          </p:cNvSpPr>
          <p:nvPr>
            <p:ph type="dt" sz="half" idx="10"/>
          </p:nvPr>
        </p:nvSpPr>
        <p:spPr/>
        <p:txBody>
          <a:bodyPr/>
          <a:lstStyle/>
          <a:p>
            <a:fld id="{2E5748FA-C200-4991-B356-E7EDD8452316}" type="datetimeFigureOut">
              <a:rPr lang="en-IN" smtClean="0"/>
              <a:t>06-11-2025</a:t>
            </a:fld>
            <a:endParaRPr lang="en-IN"/>
          </a:p>
        </p:txBody>
      </p:sp>
      <p:sp>
        <p:nvSpPr>
          <p:cNvPr id="5" name="Footer Placeholder 4">
            <a:extLst>
              <a:ext uri="{FF2B5EF4-FFF2-40B4-BE49-F238E27FC236}">
                <a16:creationId xmlns:a16="http://schemas.microsoft.com/office/drawing/2014/main" id="{1914F228-2A7D-A19F-7AEA-C365501A723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093E2D2-AC58-ACA0-F723-892BBB1A5DCE}"/>
              </a:ext>
            </a:extLst>
          </p:cNvPr>
          <p:cNvSpPr>
            <a:spLocks noGrp="1"/>
          </p:cNvSpPr>
          <p:nvPr>
            <p:ph type="sldNum" sz="quarter" idx="12"/>
          </p:nvPr>
        </p:nvSpPr>
        <p:spPr/>
        <p:txBody>
          <a:bodyPr/>
          <a:lstStyle/>
          <a:p>
            <a:fld id="{38395EF4-F07A-4367-BB89-E965510DC0EE}" type="slidenum">
              <a:rPr lang="en-IN" smtClean="0"/>
              <a:t>‹#›</a:t>
            </a:fld>
            <a:endParaRPr lang="en-IN"/>
          </a:p>
        </p:txBody>
      </p:sp>
    </p:spTree>
    <p:extLst>
      <p:ext uri="{BB962C8B-B14F-4D97-AF65-F5344CB8AC3E}">
        <p14:creationId xmlns:p14="http://schemas.microsoft.com/office/powerpoint/2010/main" val="32025788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C086A90-7739-46B5-A6CA-49C721E1358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BD03500-54E3-EFB0-40F5-71EB80FB9EC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A682FA5-D4F1-E74A-C302-FFC5D898C865}"/>
              </a:ext>
            </a:extLst>
          </p:cNvPr>
          <p:cNvSpPr>
            <a:spLocks noGrp="1"/>
          </p:cNvSpPr>
          <p:nvPr>
            <p:ph type="dt" sz="half" idx="10"/>
          </p:nvPr>
        </p:nvSpPr>
        <p:spPr/>
        <p:txBody>
          <a:bodyPr/>
          <a:lstStyle/>
          <a:p>
            <a:fld id="{2E5748FA-C200-4991-B356-E7EDD8452316}" type="datetimeFigureOut">
              <a:rPr lang="en-IN" smtClean="0"/>
              <a:t>06-11-2025</a:t>
            </a:fld>
            <a:endParaRPr lang="en-IN"/>
          </a:p>
        </p:txBody>
      </p:sp>
      <p:sp>
        <p:nvSpPr>
          <p:cNvPr id="5" name="Footer Placeholder 4">
            <a:extLst>
              <a:ext uri="{FF2B5EF4-FFF2-40B4-BE49-F238E27FC236}">
                <a16:creationId xmlns:a16="http://schemas.microsoft.com/office/drawing/2014/main" id="{CDAA635A-CB5B-BA3D-1C58-7204775B58E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7557893-480D-2E6C-3DCD-99B02F7E9565}"/>
              </a:ext>
            </a:extLst>
          </p:cNvPr>
          <p:cNvSpPr>
            <a:spLocks noGrp="1"/>
          </p:cNvSpPr>
          <p:nvPr>
            <p:ph type="sldNum" sz="quarter" idx="12"/>
          </p:nvPr>
        </p:nvSpPr>
        <p:spPr/>
        <p:txBody>
          <a:bodyPr/>
          <a:lstStyle/>
          <a:p>
            <a:fld id="{38395EF4-F07A-4367-BB89-E965510DC0EE}" type="slidenum">
              <a:rPr lang="en-IN" smtClean="0"/>
              <a:t>‹#›</a:t>
            </a:fld>
            <a:endParaRPr lang="en-IN"/>
          </a:p>
        </p:txBody>
      </p:sp>
    </p:spTree>
    <p:extLst>
      <p:ext uri="{BB962C8B-B14F-4D97-AF65-F5344CB8AC3E}">
        <p14:creationId xmlns:p14="http://schemas.microsoft.com/office/powerpoint/2010/main" val="25751912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420A3E4-877D-4164-A526-01D1B255213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79A315D-8EA3-B434-9861-B3716D389F9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6BF4F3D-66D7-4A7F-0FE0-108EBFC853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E5748FA-C200-4991-B356-E7EDD8452316}" type="datetimeFigureOut">
              <a:rPr lang="en-IN" smtClean="0"/>
              <a:t>06-11-2025</a:t>
            </a:fld>
            <a:endParaRPr lang="en-IN"/>
          </a:p>
        </p:txBody>
      </p:sp>
      <p:sp>
        <p:nvSpPr>
          <p:cNvPr id="5" name="Footer Placeholder 4">
            <a:extLst>
              <a:ext uri="{FF2B5EF4-FFF2-40B4-BE49-F238E27FC236}">
                <a16:creationId xmlns:a16="http://schemas.microsoft.com/office/drawing/2014/main" id="{ACDFB3DB-03CA-7A95-7CEA-0F5DCFAF06D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5A33C8CC-64EA-17DC-4494-BEBFE9EAC0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8395EF4-F07A-4367-BB89-E965510DC0EE}" type="slidenum">
              <a:rPr lang="en-IN" smtClean="0"/>
              <a:t>‹#›</a:t>
            </a:fld>
            <a:endParaRPr lang="en-IN"/>
          </a:p>
        </p:txBody>
      </p:sp>
    </p:spTree>
    <p:extLst>
      <p:ext uri="{BB962C8B-B14F-4D97-AF65-F5344CB8AC3E}">
        <p14:creationId xmlns:p14="http://schemas.microsoft.com/office/powerpoint/2010/main" val="32252689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5929B1B-E677-E824-E627-A2AC133FDA23}"/>
              </a:ext>
            </a:extLst>
          </p:cNvPr>
          <p:cNvSpPr>
            <a:spLocks noGrp="1"/>
          </p:cNvSpPr>
          <p:nvPr>
            <p:ph type="subTitle" idx="1"/>
          </p:nvPr>
        </p:nvSpPr>
        <p:spPr>
          <a:xfrm>
            <a:off x="1523999" y="1399488"/>
            <a:ext cx="9144000" cy="1657552"/>
          </a:xfrm>
        </p:spPr>
        <p:txBody>
          <a:bodyPr>
            <a:normAutofit/>
          </a:bodyPr>
          <a:lstStyle/>
          <a:p>
            <a:r>
              <a:rPr lang="en-US" sz="3200" b="1" dirty="0">
                <a:latin typeface="Times New Roman" panose="02020603050405020304" pitchFamily="18" charset="0"/>
                <a:cs typeface="Times New Roman" panose="02020603050405020304" pitchFamily="18" charset="0"/>
              </a:rPr>
              <a:t>A Hybrid Transformer-Based Sentiment Analysis Model with Emoji-Slang Normalization and Sarcasm Detection</a:t>
            </a:r>
            <a:endParaRPr lang="en-IN" sz="32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EA6757A5-ED86-4688-8DBF-3852390F8F8D}"/>
              </a:ext>
            </a:extLst>
          </p:cNvPr>
          <p:cNvSpPr txBox="1"/>
          <p:nvPr/>
        </p:nvSpPr>
        <p:spPr>
          <a:xfrm>
            <a:off x="1523999" y="3971058"/>
            <a:ext cx="5055031" cy="2062872"/>
          </a:xfrm>
          <a:prstGeom prst="rect">
            <a:avLst/>
          </a:prstGeom>
          <a:noFill/>
        </p:spPr>
        <p:txBody>
          <a:bodyPr wrap="square" rtlCol="0">
            <a:spAutoFit/>
          </a:bodyPr>
          <a:lstStyle/>
          <a:p>
            <a:pPr>
              <a:lnSpc>
                <a:spcPct val="150000"/>
              </a:lnSpc>
            </a:pPr>
            <a:r>
              <a:rPr lang="en-IN" sz="2200" b="1" dirty="0">
                <a:latin typeface="Times New Roman" panose="02020603050405020304" pitchFamily="18" charset="0"/>
                <a:cs typeface="Times New Roman" panose="02020603050405020304" pitchFamily="18" charset="0"/>
              </a:rPr>
              <a:t>Team Members:</a:t>
            </a:r>
          </a:p>
          <a:p>
            <a:pPr marL="342900" indent="-342900">
              <a:lnSpc>
                <a:spcPct val="150000"/>
              </a:lnSpc>
              <a:buAutoNum type="arabicParenR"/>
            </a:pPr>
            <a:r>
              <a:rPr lang="en-IN" sz="2200" b="1" dirty="0">
                <a:latin typeface="Times New Roman" panose="02020603050405020304" pitchFamily="18" charset="0"/>
                <a:cs typeface="Times New Roman" panose="02020603050405020304" pitchFamily="18" charset="0"/>
              </a:rPr>
              <a:t>M. Hari Srinivas (24MCB0045)</a:t>
            </a:r>
          </a:p>
          <a:p>
            <a:pPr marL="342900" indent="-342900">
              <a:lnSpc>
                <a:spcPct val="150000"/>
              </a:lnSpc>
              <a:buAutoNum type="arabicParenR"/>
            </a:pPr>
            <a:r>
              <a:rPr lang="en-IN" sz="2200" b="1" dirty="0">
                <a:latin typeface="Times New Roman" panose="02020603050405020304" pitchFamily="18" charset="0"/>
                <a:cs typeface="Times New Roman" panose="02020603050405020304" pitchFamily="18" charset="0"/>
              </a:rPr>
              <a:t>B. Hemanth Kumar(24MCB0044)</a:t>
            </a:r>
          </a:p>
          <a:p>
            <a:pPr marL="342900" indent="-342900">
              <a:lnSpc>
                <a:spcPct val="150000"/>
              </a:lnSpc>
              <a:buAutoNum type="arabicParenR"/>
            </a:pPr>
            <a:r>
              <a:rPr lang="en-IN" sz="2200" b="1" dirty="0">
                <a:latin typeface="Times New Roman" panose="02020603050405020304" pitchFamily="18" charset="0"/>
                <a:cs typeface="Times New Roman" panose="02020603050405020304" pitchFamily="18" charset="0"/>
              </a:rPr>
              <a:t>S. Govardhan(24MCB0040)</a:t>
            </a:r>
          </a:p>
        </p:txBody>
      </p:sp>
      <p:sp>
        <p:nvSpPr>
          <p:cNvPr id="6" name="TextBox 5">
            <a:extLst>
              <a:ext uri="{FF2B5EF4-FFF2-40B4-BE49-F238E27FC236}">
                <a16:creationId xmlns:a16="http://schemas.microsoft.com/office/drawing/2014/main" id="{5F14FFCF-C0E0-12F3-5F68-B2B7507EDC05}"/>
              </a:ext>
            </a:extLst>
          </p:cNvPr>
          <p:cNvSpPr txBox="1"/>
          <p:nvPr/>
        </p:nvSpPr>
        <p:spPr>
          <a:xfrm>
            <a:off x="7200129" y="3990048"/>
            <a:ext cx="4152379" cy="1047210"/>
          </a:xfrm>
          <a:prstGeom prst="rect">
            <a:avLst/>
          </a:prstGeom>
          <a:noFill/>
        </p:spPr>
        <p:txBody>
          <a:bodyPr wrap="square" rtlCol="0">
            <a:spAutoFit/>
          </a:bodyPr>
          <a:lstStyle/>
          <a:p>
            <a:pPr>
              <a:lnSpc>
                <a:spcPct val="150000"/>
              </a:lnSpc>
            </a:pPr>
            <a:r>
              <a:rPr lang="en-IN" sz="2200" b="1" dirty="0">
                <a:latin typeface="Times New Roman" panose="02020603050405020304" pitchFamily="18" charset="0"/>
                <a:cs typeface="Times New Roman" panose="02020603050405020304" pitchFamily="18" charset="0"/>
              </a:rPr>
              <a:t>Faculty Guide:</a:t>
            </a:r>
          </a:p>
          <a:p>
            <a:pPr>
              <a:lnSpc>
                <a:spcPct val="150000"/>
              </a:lnSpc>
            </a:pPr>
            <a:r>
              <a:rPr lang="en-IN" sz="2200" b="1" dirty="0">
                <a:latin typeface="Times New Roman" panose="02020603050405020304" pitchFamily="18" charset="0"/>
                <a:cs typeface="Times New Roman" panose="02020603050405020304" pitchFamily="18" charset="0"/>
              </a:rPr>
              <a:t>Dr. R. Manjula(</a:t>
            </a:r>
            <a:r>
              <a:rPr lang="en-IN" sz="2200" b="1" dirty="0" err="1">
                <a:latin typeface="Times New Roman" panose="02020603050405020304" pitchFamily="18" charset="0"/>
                <a:cs typeface="Times New Roman" panose="02020603050405020304" pitchFamily="18" charset="0"/>
              </a:rPr>
              <a:t>ph.d</a:t>
            </a:r>
            <a:r>
              <a:rPr lang="en-IN" sz="2200" b="1" dirty="0">
                <a:latin typeface="Times New Roman" panose="02020603050405020304" pitchFamily="18" charset="0"/>
                <a:cs typeface="Times New Roman" panose="02020603050405020304" pitchFamily="18" charset="0"/>
              </a:rPr>
              <a:t>) - SCOPE</a:t>
            </a:r>
          </a:p>
        </p:txBody>
      </p:sp>
    </p:spTree>
    <p:extLst>
      <p:ext uri="{BB962C8B-B14F-4D97-AF65-F5344CB8AC3E}">
        <p14:creationId xmlns:p14="http://schemas.microsoft.com/office/powerpoint/2010/main" val="7859495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A3869BA-65AB-6F4B-21CC-3C2368DCFC02}"/>
              </a:ext>
            </a:extLst>
          </p:cNvPr>
          <p:cNvSpPr>
            <a:spLocks noGrp="1"/>
          </p:cNvSpPr>
          <p:nvPr>
            <p:ph type="title"/>
          </p:nvPr>
        </p:nvSpPr>
        <p:spPr>
          <a:xfrm>
            <a:off x="1371597" y="348865"/>
            <a:ext cx="10044023" cy="877729"/>
          </a:xfrm>
        </p:spPr>
        <p:txBody>
          <a:bodyPr anchor="ctr">
            <a:normAutofit/>
          </a:bodyPr>
          <a:lstStyle/>
          <a:p>
            <a:r>
              <a:rPr lang="en-US" sz="4000" b="1" dirty="0">
                <a:solidFill>
                  <a:srgbClr val="FFFFFF"/>
                </a:solidFill>
              </a:rPr>
              <a:t>CONTENTS</a:t>
            </a:r>
            <a:endParaRPr lang="en-IN" sz="4000" b="1" dirty="0">
              <a:solidFill>
                <a:srgbClr val="FFFFFF"/>
              </a:solidFill>
            </a:endParaRPr>
          </a:p>
        </p:txBody>
      </p:sp>
      <p:sp>
        <p:nvSpPr>
          <p:cNvPr id="9" name="TextBox 8">
            <a:extLst>
              <a:ext uri="{FF2B5EF4-FFF2-40B4-BE49-F238E27FC236}">
                <a16:creationId xmlns:a16="http://schemas.microsoft.com/office/drawing/2014/main" id="{FF12AF34-0605-D055-AE6D-5F2D2A3AB438}"/>
              </a:ext>
            </a:extLst>
          </p:cNvPr>
          <p:cNvSpPr txBox="1"/>
          <p:nvPr/>
        </p:nvSpPr>
        <p:spPr>
          <a:xfrm>
            <a:off x="1715217" y="1756360"/>
            <a:ext cx="6413640" cy="4602029"/>
          </a:xfrm>
          <a:prstGeom prst="rect">
            <a:avLst/>
          </a:prstGeom>
          <a:noFill/>
        </p:spPr>
        <p:txBody>
          <a:bodyPr wrap="square">
            <a:spAutoFit/>
          </a:bodyPr>
          <a:lstStyle/>
          <a:p>
            <a:pPr marL="342900" indent="-342900">
              <a:lnSpc>
                <a:spcPct val="150000"/>
              </a:lnSpc>
              <a:buFont typeface="+mj-lt"/>
              <a:buAutoNum type="arabicPeriod"/>
            </a:pPr>
            <a:r>
              <a:rPr lang="en-US" sz="2200" b="1" dirty="0">
                <a:latin typeface="Times New Roman" panose="02020603050405020304" pitchFamily="18" charset="0"/>
                <a:cs typeface="Times New Roman" panose="02020603050405020304" pitchFamily="18" charset="0"/>
              </a:rPr>
              <a:t>INTRODUCTION</a:t>
            </a:r>
          </a:p>
          <a:p>
            <a:pPr marL="342900" indent="-342900">
              <a:lnSpc>
                <a:spcPct val="150000"/>
              </a:lnSpc>
              <a:buFont typeface="+mj-lt"/>
              <a:buAutoNum type="arabicPeriod"/>
            </a:pPr>
            <a:r>
              <a:rPr lang="en-US" sz="2200" b="1" dirty="0">
                <a:latin typeface="Times New Roman" panose="02020603050405020304" pitchFamily="18" charset="0"/>
                <a:cs typeface="Times New Roman" panose="02020603050405020304" pitchFamily="18" charset="0"/>
              </a:rPr>
              <a:t>PROBLEM STATEMENT</a:t>
            </a:r>
          </a:p>
          <a:p>
            <a:pPr marL="342900" indent="-342900">
              <a:lnSpc>
                <a:spcPct val="150000"/>
              </a:lnSpc>
              <a:buFont typeface="+mj-lt"/>
              <a:buAutoNum type="arabicPeriod"/>
            </a:pPr>
            <a:r>
              <a:rPr lang="en-US" sz="2200" b="1" dirty="0">
                <a:latin typeface="Times New Roman" panose="02020603050405020304" pitchFamily="18" charset="0"/>
                <a:cs typeface="Times New Roman" panose="02020603050405020304" pitchFamily="18" charset="0"/>
              </a:rPr>
              <a:t>LITERATURE REVIEW </a:t>
            </a:r>
          </a:p>
          <a:p>
            <a:pPr marL="342900" indent="-342900">
              <a:lnSpc>
                <a:spcPct val="150000"/>
              </a:lnSpc>
              <a:buFont typeface="+mj-lt"/>
              <a:buAutoNum type="arabicPeriod"/>
            </a:pPr>
            <a:r>
              <a:rPr lang="en-US" sz="2200" b="1" dirty="0">
                <a:latin typeface="Times New Roman" panose="02020603050405020304" pitchFamily="18" charset="0"/>
                <a:cs typeface="Times New Roman" panose="02020603050405020304" pitchFamily="18" charset="0"/>
              </a:rPr>
              <a:t>OBJECTIVES</a:t>
            </a:r>
          </a:p>
          <a:p>
            <a:pPr marL="342900" indent="-342900">
              <a:lnSpc>
                <a:spcPct val="150000"/>
              </a:lnSpc>
              <a:buFont typeface="+mj-lt"/>
              <a:buAutoNum type="arabicPeriod"/>
            </a:pPr>
            <a:r>
              <a:rPr lang="en-US" sz="2200" b="1" dirty="0">
                <a:latin typeface="Times New Roman" panose="02020603050405020304" pitchFamily="18" charset="0"/>
                <a:cs typeface="Times New Roman" panose="02020603050405020304" pitchFamily="18" charset="0"/>
              </a:rPr>
              <a:t>PROPOSED SYSYEM</a:t>
            </a:r>
          </a:p>
          <a:p>
            <a:pPr marL="342900" indent="-342900">
              <a:lnSpc>
                <a:spcPct val="150000"/>
              </a:lnSpc>
              <a:buFont typeface="+mj-lt"/>
              <a:buAutoNum type="arabicPeriod"/>
            </a:pPr>
            <a:r>
              <a:rPr lang="en-US" sz="2200" b="1" dirty="0">
                <a:latin typeface="Times New Roman" panose="02020603050405020304" pitchFamily="18" charset="0"/>
                <a:cs typeface="Times New Roman" panose="02020603050405020304" pitchFamily="18" charset="0"/>
              </a:rPr>
              <a:t>HARDWARE/SOFTWARE TOOLS</a:t>
            </a:r>
          </a:p>
          <a:p>
            <a:pPr marL="342900" indent="-342900">
              <a:lnSpc>
                <a:spcPct val="150000"/>
              </a:lnSpc>
              <a:buFont typeface="+mj-lt"/>
              <a:buAutoNum type="arabicPeriod"/>
            </a:pPr>
            <a:r>
              <a:rPr lang="en-US" sz="2200" b="1" dirty="0">
                <a:latin typeface="Times New Roman" panose="02020603050405020304" pitchFamily="18" charset="0"/>
                <a:cs typeface="Times New Roman" panose="02020603050405020304" pitchFamily="18" charset="0"/>
              </a:rPr>
              <a:t>EXPECTED OUTCOME(RESULTS)</a:t>
            </a:r>
          </a:p>
          <a:p>
            <a:pPr marL="342900" indent="-342900">
              <a:lnSpc>
                <a:spcPct val="150000"/>
              </a:lnSpc>
              <a:buFont typeface="+mj-lt"/>
              <a:buAutoNum type="arabicPeriod"/>
            </a:pPr>
            <a:r>
              <a:rPr lang="en-IN" sz="2200" b="1" dirty="0">
                <a:latin typeface="Times New Roman" panose="02020603050405020304" pitchFamily="18" charset="0"/>
                <a:cs typeface="Times New Roman" panose="02020603050405020304" pitchFamily="18" charset="0"/>
              </a:rPr>
              <a:t>CONCLUSION</a:t>
            </a:r>
          </a:p>
          <a:p>
            <a:pPr marL="342900" indent="-342900">
              <a:lnSpc>
                <a:spcPct val="150000"/>
              </a:lnSpc>
              <a:buFont typeface="+mj-lt"/>
              <a:buAutoNum type="arabicPeriod"/>
            </a:pPr>
            <a:r>
              <a:rPr lang="en-IN" sz="2200" b="1" dirty="0">
                <a:latin typeface="Times New Roman" panose="02020603050405020304" pitchFamily="18" charset="0"/>
                <a:cs typeface="Times New Roman" panose="02020603050405020304" pitchFamily="18" charset="0"/>
              </a:rPr>
              <a:t>REFERENCES </a:t>
            </a:r>
            <a:endParaRPr lang="en-US" sz="2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14569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3869BA-65AB-6F4B-21CC-3C2368DCFC02}"/>
              </a:ext>
            </a:extLst>
          </p:cNvPr>
          <p:cNvSpPr>
            <a:spLocks noGrp="1"/>
          </p:cNvSpPr>
          <p:nvPr>
            <p:ph type="title"/>
          </p:nvPr>
        </p:nvSpPr>
        <p:spPr>
          <a:xfrm>
            <a:off x="945396" y="278461"/>
            <a:ext cx="9895951" cy="1033669"/>
          </a:xfrm>
        </p:spPr>
        <p:txBody>
          <a:bodyPr>
            <a:normAutofit/>
          </a:bodyPr>
          <a:lstStyle/>
          <a:p>
            <a:r>
              <a:rPr lang="en-IN" sz="4000" b="1" dirty="0">
                <a:solidFill>
                  <a:srgbClr val="FFFFFF"/>
                </a:solidFill>
              </a:rPr>
              <a:t>Introduction</a:t>
            </a:r>
          </a:p>
        </p:txBody>
      </p:sp>
      <p:sp>
        <p:nvSpPr>
          <p:cNvPr id="3" name="Content Placeholder 2">
            <a:extLst>
              <a:ext uri="{FF2B5EF4-FFF2-40B4-BE49-F238E27FC236}">
                <a16:creationId xmlns:a16="http://schemas.microsoft.com/office/drawing/2014/main" id="{EE7C1A48-C420-E3A7-895C-39DEA78977CE}"/>
              </a:ext>
            </a:extLst>
          </p:cNvPr>
          <p:cNvSpPr>
            <a:spLocks noGrp="1"/>
          </p:cNvSpPr>
          <p:nvPr>
            <p:ph idx="1"/>
          </p:nvPr>
        </p:nvSpPr>
        <p:spPr>
          <a:xfrm>
            <a:off x="1224506" y="2379346"/>
            <a:ext cx="10391474" cy="3683358"/>
          </a:xfrm>
        </p:spPr>
        <p:txBody>
          <a:bodyPr anchor="ctr">
            <a:noAutofit/>
          </a:bodyPr>
          <a:lstStyle/>
          <a:p>
            <a:pPr algn="just">
              <a:lnSpc>
                <a:spcPct val="124000"/>
              </a:lnSpc>
            </a:pPr>
            <a:r>
              <a:rPr lang="en-US" sz="1800" dirty="0">
                <a:latin typeface="Times New Roman" panose="02020603050405020304" pitchFamily="18" charset="0"/>
                <a:cs typeface="Times New Roman" panose="02020603050405020304" pitchFamily="18" charset="0"/>
              </a:rPr>
              <a:t>Earlier, sentiment understanding was mainly achieved through manual approaches like surveys and feedback analysis. However, with the explosion of social media platforms such as Twitter and Facebook, massive volumes of unstructured textual data have made Sentiment Analysis (SA) essential for interpreting opinions and emotions online. </a:t>
            </a:r>
          </a:p>
          <a:p>
            <a:pPr algn="just">
              <a:lnSpc>
                <a:spcPct val="124000"/>
              </a:lnSpc>
            </a:pPr>
            <a:r>
              <a:rPr lang="en-US" sz="1800" dirty="0">
                <a:latin typeface="Times New Roman" panose="02020603050405020304" pitchFamily="18" charset="0"/>
                <a:cs typeface="Times New Roman" panose="02020603050405020304" pitchFamily="18" charset="0"/>
              </a:rPr>
              <a:t>Traditional machine learning models like SVM and Naïve Bayes struggle to handle informal language, emojis, and sarcasm, while deep learning models such as RNN and LSTM improve context handling but still face ambiguity issues. </a:t>
            </a:r>
          </a:p>
          <a:p>
            <a:pPr algn="just">
              <a:lnSpc>
                <a:spcPct val="124000"/>
              </a:lnSpc>
            </a:pPr>
            <a:r>
              <a:rPr lang="en-US" sz="1800" dirty="0">
                <a:latin typeface="Times New Roman" panose="02020603050405020304" pitchFamily="18" charset="0"/>
                <a:cs typeface="Times New Roman" panose="02020603050405020304" pitchFamily="18" charset="0"/>
              </a:rPr>
              <a:t>Transformer-based architectures like BERT, </a:t>
            </a:r>
            <a:r>
              <a:rPr lang="en-US" sz="1800" dirty="0" err="1">
                <a:latin typeface="Times New Roman" panose="02020603050405020304" pitchFamily="18" charset="0"/>
                <a:cs typeface="Times New Roman" panose="02020603050405020304" pitchFamily="18" charset="0"/>
              </a:rPr>
              <a:t>RoBERTa</a:t>
            </a:r>
            <a:r>
              <a:rPr lang="en-US" sz="1800" dirty="0">
                <a:latin typeface="Times New Roman" panose="02020603050405020304" pitchFamily="18" charset="0"/>
                <a:cs typeface="Times New Roman" panose="02020603050405020304" pitchFamily="18" charset="0"/>
              </a:rPr>
              <a:t>, and </a:t>
            </a:r>
            <a:r>
              <a:rPr lang="en-US" sz="1800" dirty="0" err="1">
                <a:latin typeface="Times New Roman" panose="02020603050405020304" pitchFamily="18" charset="0"/>
                <a:cs typeface="Times New Roman" panose="02020603050405020304" pitchFamily="18" charset="0"/>
              </a:rPr>
              <a:t>DistilBERT</a:t>
            </a:r>
            <a:r>
              <a:rPr lang="en-US" sz="1800" dirty="0">
                <a:latin typeface="Times New Roman" panose="02020603050405020304" pitchFamily="18" charset="0"/>
                <a:cs typeface="Times New Roman" panose="02020603050405020304" pitchFamily="18" charset="0"/>
              </a:rPr>
              <a:t> have revolutionized NLP by capturing deeper contextual meanings, yet challenges persist in analyzing noisy, slang-filled data.</a:t>
            </a:r>
          </a:p>
          <a:p>
            <a:pPr algn="just">
              <a:lnSpc>
                <a:spcPct val="124000"/>
              </a:lnSpc>
            </a:pPr>
            <a:r>
              <a:rPr lang="en-US" sz="1800" dirty="0">
                <a:latin typeface="Times New Roman" panose="02020603050405020304" pitchFamily="18" charset="0"/>
                <a:cs typeface="Times New Roman" panose="02020603050405020304" pitchFamily="18" charset="0"/>
              </a:rPr>
              <a:t>To overcome these limitations, this research proposes a hybrid transformer-based framework combining </a:t>
            </a:r>
            <a:r>
              <a:rPr lang="en-US" sz="1800" dirty="0" err="1">
                <a:latin typeface="Times New Roman" panose="02020603050405020304" pitchFamily="18" charset="0"/>
                <a:cs typeface="Times New Roman" panose="02020603050405020304" pitchFamily="18" charset="0"/>
              </a:rPr>
              <a:t>DistilBERT</a:t>
            </a:r>
            <a:r>
              <a:rPr lang="en-US" sz="1800" dirty="0">
                <a:latin typeface="Times New Roman" panose="02020603050405020304" pitchFamily="18" charset="0"/>
                <a:cs typeface="Times New Roman" panose="02020603050405020304" pitchFamily="18" charset="0"/>
              </a:rPr>
              <a:t>, TF-IDF with Logistic Regression, </a:t>
            </a:r>
            <a:r>
              <a:rPr lang="en-US" sz="1800" dirty="0" err="1">
                <a:latin typeface="Times New Roman" panose="02020603050405020304" pitchFamily="18" charset="0"/>
                <a:cs typeface="Times New Roman" panose="02020603050405020304" pitchFamily="18" charset="0"/>
              </a:rPr>
              <a:t>BiLSTM</a:t>
            </a:r>
            <a:r>
              <a:rPr lang="en-US" sz="1800" dirty="0">
                <a:latin typeface="Times New Roman" panose="02020603050405020304" pitchFamily="18" charset="0"/>
                <a:cs typeface="Times New Roman" panose="02020603050405020304" pitchFamily="18" charset="0"/>
              </a:rPr>
              <a:t>, and </a:t>
            </a:r>
            <a:r>
              <a:rPr lang="en-US" sz="1800" dirty="0" err="1">
                <a:latin typeface="Times New Roman" panose="02020603050405020304" pitchFamily="18" charset="0"/>
                <a:cs typeface="Times New Roman" panose="02020603050405020304" pitchFamily="18" charset="0"/>
              </a:rPr>
              <a:t>RoBERTa</a:t>
            </a:r>
            <a:r>
              <a:rPr lang="en-US" sz="1800" dirty="0">
                <a:latin typeface="Times New Roman" panose="02020603050405020304" pitchFamily="18" charset="0"/>
                <a:cs typeface="Times New Roman" panose="02020603050405020304" pitchFamily="18" charset="0"/>
              </a:rPr>
              <a:t>-based sarcasm detection, supported by emoji-slang normalization. Using the Sentiment140 dataset, the system enhances accuracy, robustness, and emotional understanding, offering a more comprehensive solution for real-world sentiment analysis.</a:t>
            </a:r>
          </a:p>
        </p:txBody>
      </p:sp>
    </p:spTree>
    <p:extLst>
      <p:ext uri="{BB962C8B-B14F-4D97-AF65-F5344CB8AC3E}">
        <p14:creationId xmlns:p14="http://schemas.microsoft.com/office/powerpoint/2010/main" val="8456448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3869BA-65AB-6F4B-21CC-3C2368DCFC02}"/>
              </a:ext>
            </a:extLst>
          </p:cNvPr>
          <p:cNvSpPr>
            <a:spLocks noGrp="1"/>
          </p:cNvSpPr>
          <p:nvPr>
            <p:ph type="title"/>
          </p:nvPr>
        </p:nvSpPr>
        <p:spPr>
          <a:xfrm>
            <a:off x="1371599" y="339610"/>
            <a:ext cx="9895951" cy="1033669"/>
          </a:xfrm>
        </p:spPr>
        <p:txBody>
          <a:bodyPr>
            <a:normAutofit/>
          </a:bodyPr>
          <a:lstStyle/>
          <a:p>
            <a:r>
              <a:rPr lang="en-IN" sz="4000" b="1">
                <a:solidFill>
                  <a:srgbClr val="FFFFFF"/>
                </a:solidFill>
              </a:rPr>
              <a:t>Problem Statement</a:t>
            </a:r>
          </a:p>
        </p:txBody>
      </p:sp>
      <p:sp>
        <p:nvSpPr>
          <p:cNvPr id="3" name="Content Placeholder 2">
            <a:extLst>
              <a:ext uri="{FF2B5EF4-FFF2-40B4-BE49-F238E27FC236}">
                <a16:creationId xmlns:a16="http://schemas.microsoft.com/office/drawing/2014/main" id="{EE7C1A48-C420-E3A7-895C-39DEA78977CE}"/>
              </a:ext>
            </a:extLst>
          </p:cNvPr>
          <p:cNvSpPr>
            <a:spLocks noGrp="1"/>
          </p:cNvSpPr>
          <p:nvPr>
            <p:ph idx="1"/>
          </p:nvPr>
        </p:nvSpPr>
        <p:spPr>
          <a:xfrm>
            <a:off x="1737677" y="1937042"/>
            <a:ext cx="9724031" cy="3683358"/>
          </a:xfrm>
        </p:spPr>
        <p:txBody>
          <a:bodyPr anchor="ctr">
            <a:normAutofit/>
          </a:bodyPr>
          <a:lstStyle/>
          <a:p>
            <a:pPr algn="just">
              <a:lnSpc>
                <a:spcPct val="114000"/>
              </a:lnSpc>
            </a:pPr>
            <a:r>
              <a:rPr lang="en-US" sz="2200" dirty="0">
                <a:latin typeface="Times New Roman" panose="02020603050405020304" pitchFamily="18" charset="0"/>
                <a:cs typeface="Times New Roman" panose="02020603050405020304" pitchFamily="18" charset="0"/>
              </a:rPr>
              <a:t>Social media text is </a:t>
            </a:r>
            <a:r>
              <a:rPr lang="en-US" sz="2200" b="1" dirty="0">
                <a:latin typeface="Times New Roman" panose="02020603050405020304" pitchFamily="18" charset="0"/>
                <a:cs typeface="Times New Roman" panose="02020603050405020304" pitchFamily="18" charset="0"/>
              </a:rPr>
              <a:t>informal and noisy</a:t>
            </a:r>
            <a:r>
              <a:rPr lang="en-US" sz="2200" dirty="0">
                <a:latin typeface="Times New Roman" panose="02020603050405020304" pitchFamily="18" charset="0"/>
                <a:cs typeface="Times New Roman" panose="02020603050405020304" pitchFamily="18" charset="0"/>
              </a:rPr>
              <a:t>, filled with slang, emojis, and sarcasm.</a:t>
            </a:r>
          </a:p>
          <a:p>
            <a:pPr algn="just">
              <a:lnSpc>
                <a:spcPct val="114000"/>
              </a:lnSpc>
            </a:pPr>
            <a:r>
              <a:rPr lang="en-US" sz="2200" b="1" dirty="0">
                <a:latin typeface="Times New Roman" panose="02020603050405020304" pitchFamily="18" charset="0"/>
                <a:cs typeface="Times New Roman" panose="02020603050405020304" pitchFamily="18" charset="0"/>
              </a:rPr>
              <a:t>Traditional ML models</a:t>
            </a:r>
            <a:r>
              <a:rPr lang="en-US" sz="2200" dirty="0">
                <a:latin typeface="Times New Roman" panose="02020603050405020304" pitchFamily="18" charset="0"/>
                <a:cs typeface="Times New Roman" panose="02020603050405020304" pitchFamily="18" charset="0"/>
              </a:rPr>
              <a:t> fail to capture deep context and emotional meaning.</a:t>
            </a:r>
          </a:p>
          <a:p>
            <a:pPr algn="just">
              <a:lnSpc>
                <a:spcPct val="114000"/>
              </a:lnSpc>
            </a:pPr>
            <a:r>
              <a:rPr lang="en-US" sz="2200" b="1" dirty="0">
                <a:latin typeface="Times New Roman" panose="02020603050405020304" pitchFamily="18" charset="0"/>
                <a:cs typeface="Times New Roman" panose="02020603050405020304" pitchFamily="18" charset="0"/>
              </a:rPr>
              <a:t>Deep learning models</a:t>
            </a:r>
            <a:r>
              <a:rPr lang="en-US" sz="2200" dirty="0">
                <a:latin typeface="Times New Roman" panose="02020603050405020304" pitchFamily="18" charset="0"/>
                <a:cs typeface="Times New Roman" panose="02020603050405020304" pitchFamily="18" charset="0"/>
              </a:rPr>
              <a:t> improve context but struggle with ambiguity and sarcasm.</a:t>
            </a:r>
          </a:p>
          <a:p>
            <a:pPr algn="just">
              <a:lnSpc>
                <a:spcPct val="114000"/>
              </a:lnSpc>
            </a:pPr>
            <a:r>
              <a:rPr lang="en-US" sz="2200" b="1" dirty="0">
                <a:latin typeface="Times New Roman" panose="02020603050405020304" pitchFamily="18" charset="0"/>
                <a:cs typeface="Times New Roman" panose="02020603050405020304" pitchFamily="18" charset="0"/>
              </a:rPr>
              <a:t>Transformer models</a:t>
            </a:r>
            <a:r>
              <a:rPr lang="en-US" sz="2200" dirty="0">
                <a:latin typeface="Times New Roman" panose="02020603050405020304" pitchFamily="18" charset="0"/>
                <a:cs typeface="Times New Roman" panose="02020603050405020304" pitchFamily="18" charset="0"/>
              </a:rPr>
              <a:t> (BERT, </a:t>
            </a:r>
            <a:r>
              <a:rPr lang="en-US" sz="2200" dirty="0" err="1">
                <a:latin typeface="Times New Roman" panose="02020603050405020304" pitchFamily="18" charset="0"/>
                <a:cs typeface="Times New Roman" panose="02020603050405020304" pitchFamily="18" charset="0"/>
              </a:rPr>
              <a:t>RoBERTa</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DistilBERT</a:t>
            </a:r>
            <a:r>
              <a:rPr lang="en-US" sz="2200" dirty="0">
                <a:latin typeface="Times New Roman" panose="02020603050405020304" pitchFamily="18" charset="0"/>
                <a:cs typeface="Times New Roman" panose="02020603050405020304" pitchFamily="18" charset="0"/>
              </a:rPr>
              <a:t>) perform well but face issues with slang and emoji-based expressions.</a:t>
            </a:r>
          </a:p>
          <a:p>
            <a:pPr algn="just">
              <a:lnSpc>
                <a:spcPct val="114000"/>
              </a:lnSpc>
            </a:pPr>
            <a:r>
              <a:rPr lang="en-US" sz="2200" dirty="0">
                <a:latin typeface="Times New Roman" panose="02020603050405020304" pitchFamily="18" charset="0"/>
                <a:cs typeface="Times New Roman" panose="02020603050405020304" pitchFamily="18" charset="0"/>
              </a:rPr>
              <a:t>There is a need for a </a:t>
            </a:r>
            <a:r>
              <a:rPr lang="en-US" sz="2200" b="1" dirty="0">
                <a:latin typeface="Times New Roman" panose="02020603050405020304" pitchFamily="18" charset="0"/>
                <a:cs typeface="Times New Roman" panose="02020603050405020304" pitchFamily="18" charset="0"/>
              </a:rPr>
              <a:t>hybrid transformer-based framework</a:t>
            </a:r>
            <a:r>
              <a:rPr lang="en-US" sz="2200" dirty="0">
                <a:latin typeface="Times New Roman" panose="02020603050405020304" pitchFamily="18" charset="0"/>
                <a:cs typeface="Times New Roman" panose="02020603050405020304" pitchFamily="18" charset="0"/>
              </a:rPr>
              <a:t> that combines contextual, statistical, and sarcasm-aware features to improve </a:t>
            </a:r>
            <a:r>
              <a:rPr lang="en-US" sz="2200" b="1" dirty="0">
                <a:latin typeface="Times New Roman" panose="02020603050405020304" pitchFamily="18" charset="0"/>
                <a:cs typeface="Times New Roman" panose="02020603050405020304" pitchFamily="18" charset="0"/>
              </a:rPr>
              <a:t>accuracy and robustness</a:t>
            </a:r>
            <a:r>
              <a:rPr lang="en-US" sz="2200" dirty="0">
                <a:latin typeface="Times New Roman" panose="02020603050405020304" pitchFamily="18" charset="0"/>
                <a:cs typeface="Times New Roman" panose="02020603050405020304" pitchFamily="18" charset="0"/>
              </a:rPr>
              <a:t> in sentiment analysis.</a:t>
            </a:r>
          </a:p>
        </p:txBody>
      </p:sp>
    </p:spTree>
    <p:extLst>
      <p:ext uri="{BB962C8B-B14F-4D97-AF65-F5344CB8AC3E}">
        <p14:creationId xmlns:p14="http://schemas.microsoft.com/office/powerpoint/2010/main" val="37631274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3869BA-65AB-6F4B-21CC-3C2368DCFC02}"/>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b="1" kern="1200">
                <a:solidFill>
                  <a:srgbClr val="FFFFFF"/>
                </a:solidFill>
                <a:latin typeface="+mj-lt"/>
                <a:ea typeface="+mj-ea"/>
                <a:cs typeface="+mj-cs"/>
              </a:rPr>
              <a:t>Literature Review</a:t>
            </a:r>
          </a:p>
        </p:txBody>
      </p:sp>
      <p:graphicFrame>
        <p:nvGraphicFramePr>
          <p:cNvPr id="4" name="Table 3">
            <a:extLst>
              <a:ext uri="{FF2B5EF4-FFF2-40B4-BE49-F238E27FC236}">
                <a16:creationId xmlns:a16="http://schemas.microsoft.com/office/drawing/2014/main" id="{9A922338-33B5-63AA-E29E-7C1656A851AB}"/>
              </a:ext>
            </a:extLst>
          </p:cNvPr>
          <p:cNvGraphicFramePr>
            <a:graphicFrameLocks noGrp="1"/>
          </p:cNvGraphicFramePr>
          <p:nvPr>
            <p:extLst>
              <p:ext uri="{D42A27DB-BD31-4B8C-83A1-F6EECF244321}">
                <p14:modId xmlns:p14="http://schemas.microsoft.com/office/powerpoint/2010/main" val="1401042148"/>
              </p:ext>
            </p:extLst>
          </p:nvPr>
        </p:nvGraphicFramePr>
        <p:xfrm>
          <a:off x="-3" y="1821343"/>
          <a:ext cx="12191998" cy="4788472"/>
        </p:xfrm>
        <a:graphic>
          <a:graphicData uri="http://schemas.openxmlformats.org/drawingml/2006/table">
            <a:tbl>
              <a:tblPr firstRow="1" bandRow="1">
                <a:tableStyleId>{5C22544A-7EE6-4342-B048-85BDC9FD1C3A}</a:tableStyleId>
              </a:tblPr>
              <a:tblGrid>
                <a:gridCol w="986045">
                  <a:extLst>
                    <a:ext uri="{9D8B030D-6E8A-4147-A177-3AD203B41FA5}">
                      <a16:colId xmlns:a16="http://schemas.microsoft.com/office/drawing/2014/main" val="20000"/>
                    </a:ext>
                  </a:extLst>
                </a:gridCol>
                <a:gridCol w="2234223">
                  <a:extLst>
                    <a:ext uri="{9D8B030D-6E8A-4147-A177-3AD203B41FA5}">
                      <a16:colId xmlns:a16="http://schemas.microsoft.com/office/drawing/2014/main" val="20001"/>
                    </a:ext>
                  </a:extLst>
                </a:gridCol>
                <a:gridCol w="2954029">
                  <a:extLst>
                    <a:ext uri="{9D8B030D-6E8A-4147-A177-3AD203B41FA5}">
                      <a16:colId xmlns:a16="http://schemas.microsoft.com/office/drawing/2014/main" val="20002"/>
                    </a:ext>
                  </a:extLst>
                </a:gridCol>
                <a:gridCol w="6017701">
                  <a:extLst>
                    <a:ext uri="{9D8B030D-6E8A-4147-A177-3AD203B41FA5}">
                      <a16:colId xmlns:a16="http://schemas.microsoft.com/office/drawing/2014/main" val="20003"/>
                    </a:ext>
                  </a:extLst>
                </a:gridCol>
              </a:tblGrid>
              <a:tr h="488475">
                <a:tc>
                  <a:txBody>
                    <a:bodyPr/>
                    <a:lstStyle/>
                    <a:p>
                      <a:pPr algn="ctr"/>
                      <a:r>
                        <a:rPr lang="en-IN" sz="1600" b="1"/>
                        <a:t>S.No</a:t>
                      </a:r>
                      <a:endParaRPr lang="en-IN" sz="1600"/>
                    </a:p>
                  </a:txBody>
                  <a:tcPr marL="83063" marR="83063" marT="41531" marB="41531" anchor="ctr"/>
                </a:tc>
                <a:tc>
                  <a:txBody>
                    <a:bodyPr/>
                    <a:lstStyle/>
                    <a:p>
                      <a:pPr algn="ctr"/>
                      <a:r>
                        <a:rPr lang="en-IN" sz="1600" b="1"/>
                        <a:t>Author</a:t>
                      </a:r>
                      <a:endParaRPr lang="en-IN" sz="1600"/>
                    </a:p>
                  </a:txBody>
                  <a:tcPr marL="83063" marR="83063" marT="41531" marB="41531" anchor="ctr"/>
                </a:tc>
                <a:tc>
                  <a:txBody>
                    <a:bodyPr/>
                    <a:lstStyle/>
                    <a:p>
                      <a:pPr algn="ctr"/>
                      <a:r>
                        <a:rPr lang="en-IN" sz="1600" b="1"/>
                        <a:t>Title</a:t>
                      </a:r>
                      <a:endParaRPr lang="en-IN" sz="1600"/>
                    </a:p>
                  </a:txBody>
                  <a:tcPr marL="83063" marR="83063" marT="41531" marB="41531" anchor="ctr"/>
                </a:tc>
                <a:tc>
                  <a:txBody>
                    <a:bodyPr/>
                    <a:lstStyle/>
                    <a:p>
                      <a:pPr algn="ctr"/>
                      <a:r>
                        <a:rPr lang="en-IN" sz="1600" b="1"/>
                        <a:t>Description</a:t>
                      </a:r>
                      <a:endParaRPr lang="en-IN" sz="1600"/>
                    </a:p>
                  </a:txBody>
                  <a:tcPr marL="83063" marR="83063" marT="41531" marB="41531" anchor="ctr"/>
                </a:tc>
                <a:extLst>
                  <a:ext uri="{0D108BD9-81ED-4DB2-BD59-A6C34878D82A}">
                    <a16:rowId xmlns:a16="http://schemas.microsoft.com/office/drawing/2014/main" val="10000"/>
                  </a:ext>
                </a:extLst>
              </a:tr>
              <a:tr h="2718442">
                <a:tc>
                  <a:txBody>
                    <a:bodyPr/>
                    <a:lstStyle/>
                    <a:p>
                      <a:pPr algn="ctr"/>
                      <a:r>
                        <a:rPr lang="en-IN" sz="1600"/>
                        <a:t>1</a:t>
                      </a:r>
                    </a:p>
                  </a:txBody>
                  <a:tcPr marL="83063" marR="83063" marT="41531" marB="41531"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 Gupta, A. Jain, and S. Singh (2021)</a:t>
                      </a:r>
                      <a:endParaRPr lang="en-IN" sz="1800" kern="1200" dirty="0">
                        <a:solidFill>
                          <a:schemeClr val="dk1"/>
                        </a:solidFill>
                        <a:effectLst/>
                        <a:latin typeface="+mn-lt"/>
                        <a:ea typeface="+mn-ea"/>
                        <a:cs typeface="+mn-cs"/>
                      </a:endParaRPr>
                    </a:p>
                  </a:txBody>
                  <a:tcPr marL="83063" marR="83063" marT="41531" marB="41531" anchor="ctr"/>
                </a:tc>
                <a:tc>
                  <a:txBody>
                    <a:bodyPr/>
                    <a:lstStyle/>
                    <a:p>
                      <a:pPr algn="l"/>
                      <a:r>
                        <a:rPr lang="en-US" sz="1600" dirty="0"/>
                        <a:t>Machine Learning Techniques for Twitter Data Using Sentiment Analysis</a:t>
                      </a:r>
                    </a:p>
                  </a:txBody>
                  <a:tcPr marL="83063" marR="83063" marT="41531" marB="41531" anchor="ctr"/>
                </a:tc>
                <a:tc>
                  <a:txBody>
                    <a:bodyPr/>
                    <a:lstStyle/>
                    <a:p>
                      <a:pPr algn="l"/>
                      <a:r>
                        <a:rPr lang="en-US" sz="1600" dirty="0"/>
                        <a:t>Focused on early lexicon and rule-based sentiment analysis methods for Twitter data. The study highlighted limitations of dictionary-based techniques when handling informal expressions, emojis, and sarcasm in unstructured social media text.</a:t>
                      </a:r>
                    </a:p>
                  </a:txBody>
                  <a:tcPr marL="83063" marR="83063" marT="41531" marB="41531" anchor="ctr"/>
                </a:tc>
                <a:extLst>
                  <a:ext uri="{0D108BD9-81ED-4DB2-BD59-A6C34878D82A}">
                    <a16:rowId xmlns:a16="http://schemas.microsoft.com/office/drawing/2014/main" val="3974557085"/>
                  </a:ext>
                </a:extLst>
              </a:tr>
              <a:tr h="1581555">
                <a:tc>
                  <a:txBody>
                    <a:bodyPr/>
                    <a:lstStyle/>
                    <a:p>
                      <a:pPr algn="ctr"/>
                      <a:r>
                        <a:rPr lang="en-US" sz="1600" dirty="0"/>
                        <a:t>2</a:t>
                      </a:r>
                      <a:endParaRPr lang="en-IN" sz="1600" dirty="0"/>
                    </a:p>
                  </a:txBody>
                  <a:tcPr marL="83063" marR="83063" marT="41531" marB="41531" anchor="ctr"/>
                </a:tc>
                <a:tc>
                  <a:txBody>
                    <a:bodyPr/>
                    <a:lstStyle/>
                    <a:p>
                      <a:pPr algn="l"/>
                      <a:r>
                        <a:rPr lang="en-IN" sz="1600" dirty="0"/>
                        <a:t>A. Rahat, M. Hasan, and S. Khan (2020)</a:t>
                      </a:r>
                      <a:endParaRPr lang="es-ES" sz="1600" dirty="0"/>
                    </a:p>
                  </a:txBody>
                  <a:tcPr marL="83063" marR="83063" marT="41531" marB="41531" anchor="ctr"/>
                </a:tc>
                <a:tc>
                  <a:txBody>
                    <a:bodyPr/>
                    <a:lstStyle/>
                    <a:p>
                      <a:pPr algn="l"/>
                      <a:r>
                        <a:rPr lang="en-US" sz="1600" dirty="0"/>
                        <a:t>Comparison of Naïve Bayes and SVM Algorithm Based on Sentiment Analysis Using Review Dataset</a:t>
                      </a:r>
                    </a:p>
                  </a:txBody>
                  <a:tcPr marL="83063" marR="83063" marT="41531" marB="41531" anchor="ctr"/>
                </a:tc>
                <a:tc>
                  <a:txBody>
                    <a:bodyPr/>
                    <a:lstStyle/>
                    <a:p>
                      <a:pPr algn="l"/>
                      <a:r>
                        <a:rPr lang="en-US" sz="1600" dirty="0"/>
                        <a:t>Compared the performance of Naïve Bayes and SVM classifiers using product review datasets. Found that SVM achieves higher precision and robustness but noted that classical lexicon-based methods underperform on unstructured text.</a:t>
                      </a:r>
                    </a:p>
                  </a:txBody>
                  <a:tcPr marL="83063" marR="83063" marT="41531" marB="41531" anchor="ctr"/>
                </a:tc>
                <a:extLst>
                  <a:ext uri="{0D108BD9-81ED-4DB2-BD59-A6C34878D82A}">
                    <a16:rowId xmlns:a16="http://schemas.microsoft.com/office/drawing/2014/main" val="3844311174"/>
                  </a:ext>
                </a:extLst>
              </a:tr>
            </a:tbl>
          </a:graphicData>
        </a:graphic>
      </p:graphicFrame>
    </p:spTree>
    <p:extLst>
      <p:ext uri="{BB962C8B-B14F-4D97-AF65-F5344CB8AC3E}">
        <p14:creationId xmlns:p14="http://schemas.microsoft.com/office/powerpoint/2010/main" val="32865688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9D2F817-B9BD-20B6-B168-BAD0E7DE96E3}"/>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1639898-E944-329A-2A13-DF68F4A073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CAE7AE5-BFCC-5868-F1D4-F620C39413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1A86A83-A4A5-23F9-596C-9E1E8DCFF7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DC27DB4-48A3-1F40-F82A-62280CFE14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16AA13-A08F-6A74-74B7-E18491A7279A}"/>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b="1" kern="1200">
                <a:solidFill>
                  <a:srgbClr val="FFFFFF"/>
                </a:solidFill>
                <a:latin typeface="+mj-lt"/>
                <a:ea typeface="+mj-ea"/>
                <a:cs typeface="+mj-cs"/>
              </a:rPr>
              <a:t>Literature Review</a:t>
            </a:r>
          </a:p>
        </p:txBody>
      </p:sp>
      <p:graphicFrame>
        <p:nvGraphicFramePr>
          <p:cNvPr id="4" name="Table 3">
            <a:extLst>
              <a:ext uri="{FF2B5EF4-FFF2-40B4-BE49-F238E27FC236}">
                <a16:creationId xmlns:a16="http://schemas.microsoft.com/office/drawing/2014/main" id="{FE58A378-9AB1-5E3D-BB0F-04081FDE9C7C}"/>
              </a:ext>
            </a:extLst>
          </p:cNvPr>
          <p:cNvGraphicFramePr>
            <a:graphicFrameLocks noGrp="1"/>
          </p:cNvGraphicFramePr>
          <p:nvPr>
            <p:extLst>
              <p:ext uri="{D42A27DB-BD31-4B8C-83A1-F6EECF244321}">
                <p14:modId xmlns:p14="http://schemas.microsoft.com/office/powerpoint/2010/main" val="2260338954"/>
              </p:ext>
            </p:extLst>
          </p:nvPr>
        </p:nvGraphicFramePr>
        <p:xfrm>
          <a:off x="0" y="1811214"/>
          <a:ext cx="12191998" cy="4798749"/>
        </p:xfrm>
        <a:graphic>
          <a:graphicData uri="http://schemas.openxmlformats.org/drawingml/2006/table">
            <a:tbl>
              <a:tblPr firstRow="1" bandRow="1">
                <a:tableStyleId>{5C22544A-7EE6-4342-B048-85BDC9FD1C3A}</a:tableStyleId>
              </a:tblPr>
              <a:tblGrid>
                <a:gridCol w="986045">
                  <a:extLst>
                    <a:ext uri="{9D8B030D-6E8A-4147-A177-3AD203B41FA5}">
                      <a16:colId xmlns:a16="http://schemas.microsoft.com/office/drawing/2014/main" val="20000"/>
                    </a:ext>
                  </a:extLst>
                </a:gridCol>
                <a:gridCol w="2234223">
                  <a:extLst>
                    <a:ext uri="{9D8B030D-6E8A-4147-A177-3AD203B41FA5}">
                      <a16:colId xmlns:a16="http://schemas.microsoft.com/office/drawing/2014/main" val="20001"/>
                    </a:ext>
                  </a:extLst>
                </a:gridCol>
                <a:gridCol w="2954029">
                  <a:extLst>
                    <a:ext uri="{9D8B030D-6E8A-4147-A177-3AD203B41FA5}">
                      <a16:colId xmlns:a16="http://schemas.microsoft.com/office/drawing/2014/main" val="20002"/>
                    </a:ext>
                  </a:extLst>
                </a:gridCol>
                <a:gridCol w="6017701">
                  <a:extLst>
                    <a:ext uri="{9D8B030D-6E8A-4147-A177-3AD203B41FA5}">
                      <a16:colId xmlns:a16="http://schemas.microsoft.com/office/drawing/2014/main" val="20003"/>
                    </a:ext>
                  </a:extLst>
                </a:gridCol>
              </a:tblGrid>
              <a:tr h="390027">
                <a:tc>
                  <a:txBody>
                    <a:bodyPr/>
                    <a:lstStyle/>
                    <a:p>
                      <a:pPr algn="ctr"/>
                      <a:r>
                        <a:rPr lang="en-IN" sz="1600" b="1"/>
                        <a:t>S.No</a:t>
                      </a:r>
                      <a:endParaRPr lang="en-IN" sz="1600"/>
                    </a:p>
                  </a:txBody>
                  <a:tcPr marL="83063" marR="83063" marT="41531" marB="41531" anchor="ctr"/>
                </a:tc>
                <a:tc>
                  <a:txBody>
                    <a:bodyPr/>
                    <a:lstStyle/>
                    <a:p>
                      <a:pPr algn="ctr"/>
                      <a:r>
                        <a:rPr lang="en-IN" sz="1600" b="1"/>
                        <a:t>Author</a:t>
                      </a:r>
                      <a:endParaRPr lang="en-IN" sz="1600"/>
                    </a:p>
                  </a:txBody>
                  <a:tcPr marL="83063" marR="83063" marT="41531" marB="41531" anchor="ctr"/>
                </a:tc>
                <a:tc>
                  <a:txBody>
                    <a:bodyPr/>
                    <a:lstStyle/>
                    <a:p>
                      <a:pPr algn="ctr"/>
                      <a:r>
                        <a:rPr lang="en-IN" sz="1600" b="1"/>
                        <a:t>Title</a:t>
                      </a:r>
                      <a:endParaRPr lang="en-IN" sz="1600"/>
                    </a:p>
                  </a:txBody>
                  <a:tcPr marL="83063" marR="83063" marT="41531" marB="41531" anchor="ctr"/>
                </a:tc>
                <a:tc>
                  <a:txBody>
                    <a:bodyPr/>
                    <a:lstStyle/>
                    <a:p>
                      <a:pPr algn="ctr"/>
                      <a:r>
                        <a:rPr lang="en-IN" sz="1600" b="1"/>
                        <a:t>Description</a:t>
                      </a:r>
                      <a:endParaRPr lang="en-IN" sz="1600"/>
                    </a:p>
                  </a:txBody>
                  <a:tcPr marL="83063" marR="83063" marT="41531" marB="41531" anchor="ctr"/>
                </a:tc>
                <a:extLst>
                  <a:ext uri="{0D108BD9-81ED-4DB2-BD59-A6C34878D82A}">
                    <a16:rowId xmlns:a16="http://schemas.microsoft.com/office/drawing/2014/main" val="10000"/>
                  </a:ext>
                </a:extLst>
              </a:tr>
              <a:tr h="2767236">
                <a:tc>
                  <a:txBody>
                    <a:bodyPr/>
                    <a:lstStyle/>
                    <a:p>
                      <a:pPr algn="ctr"/>
                      <a:r>
                        <a:rPr lang="en-IN" sz="1600" dirty="0"/>
                        <a:t>3</a:t>
                      </a:r>
                    </a:p>
                  </a:txBody>
                  <a:tcPr marL="83063" marR="83063" marT="41531" marB="41531"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Yosra </a:t>
                      </a:r>
                      <a:r>
                        <a:rPr lang="en-IN" dirty="0" err="1"/>
                        <a:t>Bouassida</a:t>
                      </a:r>
                      <a:r>
                        <a:rPr lang="en-IN" dirty="0"/>
                        <a:t> and Hakim </a:t>
                      </a:r>
                      <a:r>
                        <a:rPr lang="en-IN" dirty="0" err="1"/>
                        <a:t>Mezali</a:t>
                      </a:r>
                      <a:r>
                        <a:rPr lang="en-IN" dirty="0"/>
                        <a:t> (2023)</a:t>
                      </a:r>
                      <a:endParaRPr lang="en-IN" sz="1800" kern="1200" dirty="0">
                        <a:solidFill>
                          <a:schemeClr val="dk1"/>
                        </a:solidFill>
                        <a:effectLst/>
                        <a:latin typeface="+mn-lt"/>
                        <a:ea typeface="+mn-ea"/>
                        <a:cs typeface="+mn-cs"/>
                      </a:endParaRPr>
                    </a:p>
                  </a:txBody>
                  <a:tcPr marL="83063" marR="83063" marT="41531" marB="41531" anchor="ctr"/>
                </a:tc>
                <a:tc>
                  <a:txBody>
                    <a:bodyPr/>
                    <a:lstStyle/>
                    <a:p>
                      <a:pPr algn="l"/>
                      <a:r>
                        <a:rPr lang="en-US" sz="1600" dirty="0"/>
                        <a:t>Enhancing Twitter Sentiment Analysis Using Hybrid Transformer and Sequence Models</a:t>
                      </a:r>
                    </a:p>
                  </a:txBody>
                  <a:tcPr marL="83063" marR="83063" marT="41531" marB="41531" anchor="ctr"/>
                </a:tc>
                <a:tc>
                  <a:txBody>
                    <a:bodyPr/>
                    <a:lstStyle/>
                    <a:p>
                      <a:pPr algn="l"/>
                      <a:r>
                        <a:rPr lang="en-IN" sz="1600" dirty="0"/>
                        <a:t>proposed a hybrid sentiment analysis model integrating Transformer architectures (BERT, </a:t>
                      </a:r>
                      <a:r>
                        <a:rPr lang="en-IN" sz="1600" dirty="0" err="1"/>
                        <a:t>RoBERTa</a:t>
                      </a:r>
                      <a:r>
                        <a:rPr lang="en-IN" sz="1600" dirty="0"/>
                        <a:t>, </a:t>
                      </a:r>
                      <a:r>
                        <a:rPr lang="en-IN" sz="1600" dirty="0" err="1"/>
                        <a:t>DistilBERT</a:t>
                      </a:r>
                      <a:r>
                        <a:rPr lang="en-IN" sz="1600" dirty="0"/>
                        <a:t>) with sequence models (</a:t>
                      </a:r>
                      <a:r>
                        <a:rPr lang="en-IN" sz="1600" dirty="0" err="1"/>
                        <a:t>BiLSTM</a:t>
                      </a:r>
                      <a:r>
                        <a:rPr lang="en-IN" sz="1600" dirty="0"/>
                        <a:t> and CNN) to enhance contextual and semantic understanding on the Sentiment140 dataset. </a:t>
                      </a:r>
                      <a:r>
                        <a:rPr lang="en-US" sz="1600" dirty="0"/>
                        <a:t>However, the study lacked mechanisms </a:t>
                      </a:r>
                      <a:r>
                        <a:rPr lang="en-US" sz="1600" b="1" dirty="0"/>
                        <a:t>for emoji and slang normalization, sarcasm detection, and explainable ensemble fusion, which limits its performance on informal and irony-heavy Twitter text.</a:t>
                      </a:r>
                    </a:p>
                  </a:txBody>
                  <a:tcPr marL="83063" marR="83063" marT="41531" marB="41531" anchor="ctr"/>
                </a:tc>
                <a:extLst>
                  <a:ext uri="{0D108BD9-81ED-4DB2-BD59-A6C34878D82A}">
                    <a16:rowId xmlns:a16="http://schemas.microsoft.com/office/drawing/2014/main" val="3974557085"/>
                  </a:ext>
                </a:extLst>
              </a:tr>
              <a:tr h="1641486">
                <a:tc>
                  <a:txBody>
                    <a:bodyPr/>
                    <a:lstStyle/>
                    <a:p>
                      <a:pPr algn="ctr"/>
                      <a:r>
                        <a:rPr lang="en-US" sz="1600" dirty="0"/>
                        <a:t>4</a:t>
                      </a:r>
                      <a:endParaRPr lang="en-IN" sz="1600" dirty="0"/>
                    </a:p>
                  </a:txBody>
                  <a:tcPr marL="83063" marR="83063" marT="41531" marB="41531" anchor="ctr"/>
                </a:tc>
                <a:tc>
                  <a:txBody>
                    <a:bodyPr/>
                    <a:lstStyle/>
                    <a:p>
                      <a:pPr algn="l"/>
                      <a:r>
                        <a:rPr lang="en-IN" sz="1600" dirty="0"/>
                        <a:t>Pushpa Mohan, G. Ranjith Kumar, et al. (2023)</a:t>
                      </a:r>
                      <a:endParaRPr lang="es-ES" sz="1600" dirty="0"/>
                    </a:p>
                  </a:txBody>
                  <a:tcPr marL="83063" marR="83063" marT="41531" marB="41531" anchor="ctr"/>
                </a:tc>
                <a:tc>
                  <a:txBody>
                    <a:bodyPr/>
                    <a:lstStyle/>
                    <a:p>
                      <a:pPr algn="l"/>
                      <a:r>
                        <a:rPr lang="en-US" sz="1600" dirty="0"/>
                        <a:t>Multimodal Sentimental Classification Using Long-Short Term Memory</a:t>
                      </a:r>
                    </a:p>
                  </a:txBody>
                  <a:tcPr marL="83063" marR="83063" marT="41531" marB="41531" anchor="ctr"/>
                </a:tc>
                <a:tc>
                  <a:txBody>
                    <a:bodyPr/>
                    <a:lstStyle/>
                    <a:p>
                      <a:pPr algn="l"/>
                      <a:r>
                        <a:rPr lang="en-IN" sz="1600" dirty="0"/>
                        <a:t>Introduced LSTM-based architecture for multimodal data (text, video, and audio). Applied on CMU-MOSI and CMU-MOSEI datasets, achieving 91% binary accuracy. Validated LSTM’s effectiveness in capturing long-term dependencies in sentiment flow.</a:t>
                      </a:r>
                      <a:endParaRPr lang="en-US" sz="1600" dirty="0"/>
                    </a:p>
                  </a:txBody>
                  <a:tcPr marL="83063" marR="83063" marT="41531" marB="41531" anchor="ctr"/>
                </a:tc>
                <a:extLst>
                  <a:ext uri="{0D108BD9-81ED-4DB2-BD59-A6C34878D82A}">
                    <a16:rowId xmlns:a16="http://schemas.microsoft.com/office/drawing/2014/main" val="3844311174"/>
                  </a:ext>
                </a:extLst>
              </a:tr>
            </a:tbl>
          </a:graphicData>
        </a:graphic>
      </p:graphicFrame>
    </p:spTree>
    <p:extLst>
      <p:ext uri="{BB962C8B-B14F-4D97-AF65-F5344CB8AC3E}">
        <p14:creationId xmlns:p14="http://schemas.microsoft.com/office/powerpoint/2010/main" val="2394847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3869BA-65AB-6F4B-21CC-3C2368DCFC02}"/>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b="1" kern="1200">
                <a:solidFill>
                  <a:srgbClr val="FFFFFF"/>
                </a:solidFill>
                <a:latin typeface="+mj-lt"/>
                <a:ea typeface="+mj-ea"/>
                <a:cs typeface="+mj-cs"/>
              </a:rPr>
              <a:t>Literature Review</a:t>
            </a:r>
          </a:p>
        </p:txBody>
      </p:sp>
      <p:graphicFrame>
        <p:nvGraphicFramePr>
          <p:cNvPr id="4" name="Table 3">
            <a:extLst>
              <a:ext uri="{FF2B5EF4-FFF2-40B4-BE49-F238E27FC236}">
                <a16:creationId xmlns:a16="http://schemas.microsoft.com/office/drawing/2014/main" id="{1C15F9DE-A2FC-2A4B-C8C0-F09C2DFEDD74}"/>
              </a:ext>
            </a:extLst>
          </p:cNvPr>
          <p:cNvGraphicFramePr>
            <a:graphicFrameLocks noGrp="1"/>
          </p:cNvGraphicFramePr>
          <p:nvPr>
            <p:extLst>
              <p:ext uri="{D42A27DB-BD31-4B8C-83A1-F6EECF244321}">
                <p14:modId xmlns:p14="http://schemas.microsoft.com/office/powerpoint/2010/main" val="1402960238"/>
              </p:ext>
            </p:extLst>
          </p:nvPr>
        </p:nvGraphicFramePr>
        <p:xfrm>
          <a:off x="0" y="1798517"/>
          <a:ext cx="12191998" cy="4827657"/>
        </p:xfrm>
        <a:graphic>
          <a:graphicData uri="http://schemas.openxmlformats.org/drawingml/2006/table">
            <a:tbl>
              <a:tblPr firstRow="1" bandRow="1">
                <a:tableStyleId>{5C22544A-7EE6-4342-B048-85BDC9FD1C3A}</a:tableStyleId>
              </a:tblPr>
              <a:tblGrid>
                <a:gridCol w="1051926">
                  <a:extLst>
                    <a:ext uri="{9D8B030D-6E8A-4147-A177-3AD203B41FA5}">
                      <a16:colId xmlns:a16="http://schemas.microsoft.com/office/drawing/2014/main" val="20000"/>
                    </a:ext>
                  </a:extLst>
                </a:gridCol>
                <a:gridCol w="1806625">
                  <a:extLst>
                    <a:ext uri="{9D8B030D-6E8A-4147-A177-3AD203B41FA5}">
                      <a16:colId xmlns:a16="http://schemas.microsoft.com/office/drawing/2014/main" val="20001"/>
                    </a:ext>
                  </a:extLst>
                </a:gridCol>
                <a:gridCol w="3721509">
                  <a:extLst>
                    <a:ext uri="{9D8B030D-6E8A-4147-A177-3AD203B41FA5}">
                      <a16:colId xmlns:a16="http://schemas.microsoft.com/office/drawing/2014/main" val="20002"/>
                    </a:ext>
                  </a:extLst>
                </a:gridCol>
                <a:gridCol w="5611938">
                  <a:extLst>
                    <a:ext uri="{9D8B030D-6E8A-4147-A177-3AD203B41FA5}">
                      <a16:colId xmlns:a16="http://schemas.microsoft.com/office/drawing/2014/main" val="20003"/>
                    </a:ext>
                  </a:extLst>
                </a:gridCol>
              </a:tblGrid>
              <a:tr h="490302">
                <a:tc>
                  <a:txBody>
                    <a:bodyPr/>
                    <a:lstStyle/>
                    <a:p>
                      <a:pPr algn="ctr"/>
                      <a:r>
                        <a:rPr lang="en-IN" sz="1500" b="1" dirty="0" err="1"/>
                        <a:t>S.No</a:t>
                      </a:r>
                      <a:endParaRPr lang="en-IN" sz="1500" dirty="0"/>
                    </a:p>
                  </a:txBody>
                  <a:tcPr marL="77788" marR="77788" marT="38894" marB="38894" anchor="ctr"/>
                </a:tc>
                <a:tc>
                  <a:txBody>
                    <a:bodyPr/>
                    <a:lstStyle/>
                    <a:p>
                      <a:pPr algn="ctr"/>
                      <a:r>
                        <a:rPr lang="en-IN" sz="1500" b="1" dirty="0"/>
                        <a:t>Author</a:t>
                      </a:r>
                      <a:endParaRPr lang="en-IN" sz="1500" dirty="0"/>
                    </a:p>
                  </a:txBody>
                  <a:tcPr marL="77788" marR="77788" marT="38894" marB="38894" anchor="ctr"/>
                </a:tc>
                <a:tc>
                  <a:txBody>
                    <a:bodyPr/>
                    <a:lstStyle/>
                    <a:p>
                      <a:pPr algn="ctr"/>
                      <a:r>
                        <a:rPr lang="en-IN" sz="1500" b="1" dirty="0"/>
                        <a:t>Title</a:t>
                      </a:r>
                      <a:endParaRPr lang="en-IN" sz="1500" dirty="0"/>
                    </a:p>
                  </a:txBody>
                  <a:tcPr marL="77788" marR="77788" marT="38894" marB="38894" anchor="ctr"/>
                </a:tc>
                <a:tc>
                  <a:txBody>
                    <a:bodyPr/>
                    <a:lstStyle/>
                    <a:p>
                      <a:pPr algn="ctr"/>
                      <a:r>
                        <a:rPr lang="en-IN" sz="1500" b="1" dirty="0"/>
                        <a:t>Description</a:t>
                      </a:r>
                      <a:endParaRPr lang="en-IN" sz="1500" dirty="0"/>
                    </a:p>
                  </a:txBody>
                  <a:tcPr marL="77788" marR="77788" marT="38894" marB="38894" anchor="ctr"/>
                </a:tc>
                <a:extLst>
                  <a:ext uri="{0D108BD9-81ED-4DB2-BD59-A6C34878D82A}">
                    <a16:rowId xmlns:a16="http://schemas.microsoft.com/office/drawing/2014/main" val="10000"/>
                  </a:ext>
                </a:extLst>
              </a:tr>
              <a:tr h="1789406">
                <a:tc>
                  <a:txBody>
                    <a:bodyPr/>
                    <a:lstStyle/>
                    <a:p>
                      <a:pPr algn="ctr"/>
                      <a:r>
                        <a:rPr lang="en-US" sz="1500" dirty="0"/>
                        <a:t>5</a:t>
                      </a:r>
                      <a:endParaRPr lang="en-IN" sz="1500" dirty="0"/>
                    </a:p>
                  </a:txBody>
                  <a:tcPr marL="77788" marR="77788" marT="38894" marB="38894" anchor="ctr"/>
                </a:tc>
                <a:tc>
                  <a:txBody>
                    <a:bodyPr/>
                    <a:lstStyle/>
                    <a:p>
                      <a:pPr algn="l"/>
                      <a:r>
                        <a:rPr lang="en-US" sz="1600" dirty="0"/>
                        <a:t>H. R. Akhtar and M. Patel (2022)</a:t>
                      </a:r>
                      <a:endParaRPr lang="en-IN" sz="1500" dirty="0"/>
                    </a:p>
                  </a:txBody>
                  <a:tcPr marL="77788" marR="77788" marT="38894" marB="38894" anchor="ctr"/>
                </a:tc>
                <a:tc>
                  <a:txBody>
                    <a:bodyPr/>
                    <a:lstStyle/>
                    <a:p>
                      <a:pPr algn="l"/>
                      <a:r>
                        <a:rPr lang="en-US" sz="1600" dirty="0"/>
                        <a:t>Deep Learning for Multimodal Sentimental Analysis</a:t>
                      </a:r>
                      <a:endParaRPr lang="en-US" sz="1500" dirty="0"/>
                    </a:p>
                  </a:txBody>
                  <a:tcPr marL="77788" marR="77788" marT="38894" marB="38894" anchor="ctr"/>
                </a:tc>
                <a:tc>
                  <a:txBody>
                    <a:bodyPr/>
                    <a:lstStyle/>
                    <a:p>
                      <a:pPr algn="l"/>
                      <a:r>
                        <a:rPr lang="en-US" sz="1600" dirty="0"/>
                        <a:t>Discussed deep learning approaches (CNN, RNN, LSTM) for sentiment analysis across multiple modalities—text, image, and audio. Highlighted that frequency-based models fail to capture deeper contextual understanding in textual sentiment.</a:t>
                      </a:r>
                      <a:endParaRPr lang="en-US" sz="1500" dirty="0"/>
                    </a:p>
                  </a:txBody>
                  <a:tcPr marL="77788" marR="77788" marT="38894" marB="38894" anchor="ctr"/>
                </a:tc>
                <a:extLst>
                  <a:ext uri="{0D108BD9-81ED-4DB2-BD59-A6C34878D82A}">
                    <a16:rowId xmlns:a16="http://schemas.microsoft.com/office/drawing/2014/main" val="3974557085"/>
                  </a:ext>
                </a:extLst>
              </a:tr>
              <a:tr h="2547949">
                <a:tc>
                  <a:txBody>
                    <a:bodyPr/>
                    <a:lstStyle/>
                    <a:p>
                      <a:pPr algn="ctr"/>
                      <a:r>
                        <a:rPr lang="en-US" sz="1500" dirty="0"/>
                        <a:t>6</a:t>
                      </a:r>
                      <a:endParaRPr lang="en-IN" sz="1500" dirty="0"/>
                    </a:p>
                  </a:txBody>
                  <a:tcPr marL="77788" marR="77788" marT="38894" marB="38894" anchor="ctr"/>
                </a:tc>
                <a:tc>
                  <a:txBody>
                    <a:bodyPr/>
                    <a:lstStyle/>
                    <a:p>
                      <a:pPr algn="l"/>
                      <a:r>
                        <a:rPr lang="en-IN" sz="1600" dirty="0"/>
                        <a:t>Amira Samy Talaat (2023)</a:t>
                      </a:r>
                      <a:endParaRPr lang="es-ES" sz="1500" dirty="0"/>
                    </a:p>
                  </a:txBody>
                  <a:tcPr marL="77788" marR="77788" marT="38894" marB="38894" anchor="ctr"/>
                </a:tc>
                <a:tc>
                  <a:txBody>
                    <a:bodyPr/>
                    <a:lstStyle/>
                    <a:p>
                      <a:pPr algn="l"/>
                      <a:r>
                        <a:rPr lang="en-IN" sz="1600" dirty="0"/>
                        <a:t>Sentiment Analysis Classification System Using Hybrid BERT Models</a:t>
                      </a:r>
                      <a:endParaRPr lang="en-US" sz="1500" dirty="0"/>
                    </a:p>
                  </a:txBody>
                  <a:tcPr marL="77788" marR="77788" marT="38894" marB="38894" anchor="ctr"/>
                </a:tc>
                <a:tc>
                  <a:txBody>
                    <a:bodyPr/>
                    <a:lstStyle/>
                    <a:p>
                      <a:pPr algn="l"/>
                      <a:r>
                        <a:rPr lang="en-IN" sz="1600" dirty="0"/>
                        <a:t>Proposed hybrid deep learning systems combining BERT with </a:t>
                      </a:r>
                      <a:r>
                        <a:rPr lang="en-IN" sz="1600" dirty="0" err="1"/>
                        <a:t>BiLSTM</a:t>
                      </a:r>
                      <a:r>
                        <a:rPr lang="en-IN" sz="1600" dirty="0"/>
                        <a:t> and </a:t>
                      </a:r>
                      <a:r>
                        <a:rPr lang="en-IN" sz="1600" dirty="0" err="1"/>
                        <a:t>BiGRU</a:t>
                      </a:r>
                      <a:r>
                        <a:rPr lang="en-IN" sz="1600" dirty="0"/>
                        <a:t> to enhance contextual emotion classification on Twitter data. Demonstrated improved accuracy and generalization compared to standalone Transformer models.</a:t>
                      </a:r>
                      <a:endParaRPr lang="en-US" sz="1500" dirty="0"/>
                    </a:p>
                  </a:txBody>
                  <a:tcPr marL="77788" marR="77788" marT="38894" marB="38894" anchor="ctr"/>
                </a:tc>
                <a:extLst>
                  <a:ext uri="{0D108BD9-81ED-4DB2-BD59-A6C34878D82A}">
                    <a16:rowId xmlns:a16="http://schemas.microsoft.com/office/drawing/2014/main" val="3844311174"/>
                  </a:ext>
                </a:extLst>
              </a:tr>
            </a:tbl>
          </a:graphicData>
        </a:graphic>
      </p:graphicFrame>
    </p:spTree>
    <p:extLst>
      <p:ext uri="{BB962C8B-B14F-4D97-AF65-F5344CB8AC3E}">
        <p14:creationId xmlns:p14="http://schemas.microsoft.com/office/powerpoint/2010/main" val="38001062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712E947-0734-45F9-9C4F-41114EC3A3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85"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12B3290A-D3BF-4B87-B55B-FD9A98B4972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9030" cy="1576446"/>
            <a:chOff x="0" y="0"/>
            <a:chExt cx="12192002" cy="1576446"/>
          </a:xfrm>
        </p:grpSpPr>
        <p:sp>
          <p:nvSpPr>
            <p:cNvPr id="14" name="Rectangle 13">
              <a:extLst>
                <a:ext uri="{FF2B5EF4-FFF2-40B4-BE49-F238E27FC236}">
                  <a16:creationId xmlns:a16="http://schemas.microsoft.com/office/drawing/2014/main" id="{033A715A-0686-440A-8F40-441B42A660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761657F-19F2-425B-B7E9-0118CD13C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07778" y="-5307778"/>
              <a:ext cx="1576446" cy="12192002"/>
            </a:xfrm>
            <a:prstGeom prst="rect">
              <a:avLst/>
            </a:prstGeom>
            <a:gradFill>
              <a:gsLst>
                <a:gs pos="45000">
                  <a:schemeClr val="accent1">
                    <a:alpha val="0"/>
                  </a:schemeClr>
                </a:gs>
                <a:gs pos="99000">
                  <a:srgbClr val="000000">
                    <a:alpha val="74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E27B6634-79D3-4EDD-A77A-1065D6F3A4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A3869BA-65AB-6F4B-21CC-3C2368DCFC02}"/>
              </a:ext>
            </a:extLst>
          </p:cNvPr>
          <p:cNvSpPr>
            <a:spLocks noGrp="1"/>
          </p:cNvSpPr>
          <p:nvPr>
            <p:ph type="title"/>
          </p:nvPr>
        </p:nvSpPr>
        <p:spPr>
          <a:xfrm>
            <a:off x="674175" y="272472"/>
            <a:ext cx="9477377" cy="1030515"/>
          </a:xfrm>
        </p:spPr>
        <p:txBody>
          <a:bodyPr anchor="ctr">
            <a:normAutofit/>
          </a:bodyPr>
          <a:lstStyle/>
          <a:p>
            <a:r>
              <a:rPr lang="en-IN" sz="4000" b="1" dirty="0">
                <a:solidFill>
                  <a:srgbClr val="FFFFFF"/>
                </a:solidFill>
              </a:rPr>
              <a:t>Objectives</a:t>
            </a:r>
          </a:p>
        </p:txBody>
      </p:sp>
      <p:sp>
        <p:nvSpPr>
          <p:cNvPr id="20" name="TextBox 19">
            <a:extLst>
              <a:ext uri="{FF2B5EF4-FFF2-40B4-BE49-F238E27FC236}">
                <a16:creationId xmlns:a16="http://schemas.microsoft.com/office/drawing/2014/main" id="{0CC449F8-4E50-D658-7F20-BC9D0E2F0609}"/>
              </a:ext>
            </a:extLst>
          </p:cNvPr>
          <p:cNvSpPr txBox="1"/>
          <p:nvPr/>
        </p:nvSpPr>
        <p:spPr>
          <a:xfrm>
            <a:off x="1071439" y="1660700"/>
            <a:ext cx="10350814" cy="5109860"/>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ü"/>
            </a:pPr>
            <a:r>
              <a:rPr lang="en-US" sz="2200" dirty="0">
                <a:latin typeface="Times New Roman" panose="02020603050405020304" pitchFamily="18" charset="0"/>
                <a:cs typeface="Times New Roman" panose="02020603050405020304" pitchFamily="18" charset="0"/>
              </a:rPr>
              <a:t>To design a </a:t>
            </a:r>
            <a:r>
              <a:rPr lang="en-US" sz="2200" b="1" dirty="0">
                <a:latin typeface="Times New Roman" panose="02020603050405020304" pitchFamily="18" charset="0"/>
                <a:cs typeface="Times New Roman" panose="02020603050405020304" pitchFamily="18" charset="0"/>
              </a:rPr>
              <a:t>hybrid sentiment analysis model</a:t>
            </a:r>
            <a:r>
              <a:rPr lang="en-US" sz="2200" dirty="0">
                <a:latin typeface="Times New Roman" panose="02020603050405020304" pitchFamily="18" charset="0"/>
                <a:cs typeface="Times New Roman" panose="02020603050405020304" pitchFamily="18" charset="0"/>
              </a:rPr>
              <a:t> that improves the accuracy of emotion detection in social media text.</a:t>
            </a:r>
          </a:p>
          <a:p>
            <a:pPr marL="342900" indent="-342900" algn="just">
              <a:lnSpc>
                <a:spcPct val="150000"/>
              </a:lnSpc>
              <a:buFont typeface="Wingdings" panose="05000000000000000000" pitchFamily="2" charset="2"/>
              <a:buChar char="ü"/>
            </a:pPr>
            <a:r>
              <a:rPr lang="en-US" sz="2200" dirty="0">
                <a:latin typeface="Times New Roman" panose="02020603050405020304" pitchFamily="18" charset="0"/>
                <a:cs typeface="Times New Roman" panose="02020603050405020304" pitchFamily="18" charset="0"/>
              </a:rPr>
              <a:t>To </a:t>
            </a:r>
            <a:r>
              <a:rPr lang="en-US" sz="2200" b="1" dirty="0">
                <a:latin typeface="Times New Roman" panose="02020603050405020304" pitchFamily="18" charset="0"/>
                <a:cs typeface="Times New Roman" panose="02020603050405020304" pitchFamily="18" charset="0"/>
              </a:rPr>
              <a:t>combine traditional and deep learning techniques</a:t>
            </a:r>
            <a:r>
              <a:rPr lang="en-US" sz="2200" dirty="0">
                <a:latin typeface="Times New Roman" panose="02020603050405020304" pitchFamily="18" charset="0"/>
                <a:cs typeface="Times New Roman" panose="02020603050405020304" pitchFamily="18" charset="0"/>
              </a:rPr>
              <a:t> for better handling of context and language variations.</a:t>
            </a:r>
          </a:p>
          <a:p>
            <a:pPr marL="342900" indent="-342900" algn="just">
              <a:lnSpc>
                <a:spcPct val="150000"/>
              </a:lnSpc>
              <a:buFont typeface="Wingdings" panose="05000000000000000000" pitchFamily="2" charset="2"/>
              <a:buChar char="ü"/>
            </a:pPr>
            <a:r>
              <a:rPr lang="en-US" sz="2200" dirty="0">
                <a:latin typeface="Times New Roman" panose="02020603050405020304" pitchFamily="18" charset="0"/>
                <a:cs typeface="Times New Roman" panose="02020603050405020304" pitchFamily="18" charset="0"/>
              </a:rPr>
              <a:t>To include </a:t>
            </a:r>
            <a:r>
              <a:rPr lang="en-US" sz="2200" b="1" dirty="0">
                <a:latin typeface="Times New Roman" panose="02020603050405020304" pitchFamily="18" charset="0"/>
                <a:cs typeface="Times New Roman" panose="02020603050405020304" pitchFamily="18" charset="0"/>
              </a:rPr>
              <a:t>sarcasm detection and emoji-slang interpretation</a:t>
            </a:r>
            <a:r>
              <a:rPr lang="en-US" sz="2200" dirty="0">
                <a:latin typeface="Times New Roman" panose="02020603050405020304" pitchFamily="18" charset="0"/>
                <a:cs typeface="Times New Roman" panose="02020603050405020304" pitchFamily="18" charset="0"/>
              </a:rPr>
              <a:t> for more reliable sentiment classification.</a:t>
            </a:r>
          </a:p>
          <a:p>
            <a:pPr marL="342900" indent="-342900" algn="just">
              <a:lnSpc>
                <a:spcPct val="150000"/>
              </a:lnSpc>
              <a:buFont typeface="Wingdings" panose="05000000000000000000" pitchFamily="2" charset="2"/>
              <a:buChar char="ü"/>
            </a:pPr>
            <a:r>
              <a:rPr lang="en-US" sz="2200" dirty="0">
                <a:latin typeface="Times New Roman" panose="02020603050405020304" pitchFamily="18" charset="0"/>
                <a:cs typeface="Times New Roman" panose="02020603050405020304" pitchFamily="18" charset="0"/>
              </a:rPr>
              <a:t>To create a </a:t>
            </a:r>
            <a:r>
              <a:rPr lang="en-US" sz="2200" b="1" dirty="0">
                <a:latin typeface="Times New Roman" panose="02020603050405020304" pitchFamily="18" charset="0"/>
                <a:cs typeface="Times New Roman" panose="02020603050405020304" pitchFamily="18" charset="0"/>
              </a:rPr>
              <a:t>robust and scalable system</a:t>
            </a:r>
            <a:r>
              <a:rPr lang="en-US" sz="2200" dirty="0">
                <a:latin typeface="Times New Roman" panose="02020603050405020304" pitchFamily="18" charset="0"/>
                <a:cs typeface="Times New Roman" panose="02020603050405020304" pitchFamily="18" charset="0"/>
              </a:rPr>
              <a:t> capable of analyzing real-time social media data effectively.</a:t>
            </a:r>
          </a:p>
          <a:p>
            <a:pPr marL="342900" indent="-342900" algn="just">
              <a:lnSpc>
                <a:spcPct val="150000"/>
              </a:lnSpc>
              <a:buFont typeface="Wingdings" panose="05000000000000000000" pitchFamily="2" charset="2"/>
              <a:buChar char="ü"/>
            </a:pPr>
            <a:r>
              <a:rPr lang="en-US" sz="2200" dirty="0">
                <a:latin typeface="Times New Roman" panose="02020603050405020304" pitchFamily="18" charset="0"/>
                <a:cs typeface="Times New Roman" panose="02020603050405020304" pitchFamily="18" charset="0"/>
              </a:rPr>
              <a:t>To provide a foundation for </a:t>
            </a:r>
            <a:r>
              <a:rPr lang="en-US" sz="2200" b="1" dirty="0">
                <a:latin typeface="Times New Roman" panose="02020603050405020304" pitchFamily="18" charset="0"/>
                <a:cs typeface="Times New Roman" panose="02020603050405020304" pitchFamily="18" charset="0"/>
              </a:rPr>
              <a:t>future enhancements</a:t>
            </a:r>
            <a:r>
              <a:rPr lang="en-US" sz="2200" dirty="0">
                <a:latin typeface="Times New Roman" panose="02020603050405020304" pitchFamily="18" charset="0"/>
                <a:cs typeface="Times New Roman" panose="02020603050405020304" pitchFamily="18" charset="0"/>
              </a:rPr>
              <a:t> such as multilingual and fine-grained emotion analysis.</a:t>
            </a:r>
          </a:p>
        </p:txBody>
      </p:sp>
    </p:spTree>
    <p:extLst>
      <p:ext uri="{BB962C8B-B14F-4D97-AF65-F5344CB8AC3E}">
        <p14:creationId xmlns:p14="http://schemas.microsoft.com/office/powerpoint/2010/main" val="25353188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3869BA-65AB-6F4B-21CC-3C2368DCFC02}"/>
              </a:ext>
            </a:extLst>
          </p:cNvPr>
          <p:cNvSpPr>
            <a:spLocks noGrp="1"/>
          </p:cNvSpPr>
          <p:nvPr>
            <p:ph type="title"/>
          </p:nvPr>
        </p:nvSpPr>
        <p:spPr>
          <a:xfrm>
            <a:off x="736169" y="302298"/>
            <a:ext cx="9895951" cy="1033669"/>
          </a:xfrm>
        </p:spPr>
        <p:txBody>
          <a:bodyPr>
            <a:normAutofit/>
          </a:bodyPr>
          <a:lstStyle/>
          <a:p>
            <a:r>
              <a:rPr lang="en-IN" sz="4000" b="1" dirty="0">
                <a:solidFill>
                  <a:srgbClr val="FFFFFF"/>
                </a:solidFill>
              </a:rPr>
              <a:t>Proposed System</a:t>
            </a:r>
          </a:p>
        </p:txBody>
      </p:sp>
      <p:sp>
        <p:nvSpPr>
          <p:cNvPr id="7" name="Rectangle 4">
            <a:extLst>
              <a:ext uri="{FF2B5EF4-FFF2-40B4-BE49-F238E27FC236}">
                <a16:creationId xmlns:a16="http://schemas.microsoft.com/office/drawing/2014/main" id="{3995653F-0295-BCF3-2C4F-6A607808BD96}"/>
              </a:ext>
            </a:extLst>
          </p:cNvPr>
          <p:cNvSpPr>
            <a:spLocks noGrp="1" noChangeArrowheads="1"/>
          </p:cNvSpPr>
          <p:nvPr>
            <p:ph idx="1"/>
          </p:nvPr>
        </p:nvSpPr>
        <p:spPr bwMode="auto">
          <a:xfrm>
            <a:off x="1232114" y="2132204"/>
            <a:ext cx="10502213" cy="3078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hybrid sarcasm-aware sentiment analysis model</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proposed for social media text.</a:t>
            </a:r>
          </a:p>
          <a:p>
            <a:pPr marR="0" lvl="0" algn="just" defTabSz="914400" rtl="0" eaLnBrk="0" fontAlgn="base" latinLnBrk="0" hangingPunct="0">
              <a:lnSpc>
                <a:spcPct val="150000"/>
              </a:lnSpc>
              <a:spcBef>
                <a:spcPct val="0"/>
              </a:spcBef>
              <a:spcAft>
                <a:spcPct val="0"/>
              </a:spcAft>
              <a:buClrTx/>
              <a:buSzTx/>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Combines </a:t>
            </a:r>
            <a:r>
              <a:rPr kumimoji="0" lang="en-US" altLang="en-US" sz="22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DistilBERT</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TF-IDF + Logistic Regression</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BiLSTM</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2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RoBERTa</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-based sarcasm detection</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R="0" lvl="0" algn="just" defTabSz="914400" rtl="0" eaLnBrk="0" fontAlgn="base" latinLnBrk="0" hangingPunct="0">
              <a:lnSpc>
                <a:spcPct val="150000"/>
              </a:lnSpc>
              <a:spcBef>
                <a:spcPct val="0"/>
              </a:spcBef>
              <a:spcAft>
                <a:spcPct val="0"/>
              </a:spcAft>
              <a:buClrTx/>
              <a:buSzTx/>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Includes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emoji-slang normalization</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weighted ensemble fusion</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better accuracy.</a:t>
            </a:r>
          </a:p>
          <a:p>
            <a:pPr marR="0" lvl="0" algn="just" defTabSz="914400" rtl="0" eaLnBrk="0" fontAlgn="base" latinLnBrk="0" hangingPunct="0">
              <a:lnSpc>
                <a:spcPct val="150000"/>
              </a:lnSpc>
              <a:spcBef>
                <a:spcPct val="0"/>
              </a:spcBef>
              <a:spcAft>
                <a:spcPct val="0"/>
              </a:spcAft>
              <a:buClrTx/>
              <a:buSzTx/>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Trained on the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Sentiment140 dataset</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1.6M tweets.</a:t>
            </a:r>
          </a:p>
          <a:p>
            <a:pPr marR="0" lvl="0" algn="just" defTabSz="914400" rtl="0" eaLnBrk="0" fontAlgn="base" latinLnBrk="0" hangingPunct="0">
              <a:lnSpc>
                <a:spcPct val="150000"/>
              </a:lnSpc>
              <a:spcBef>
                <a:spcPct val="0"/>
              </a:spcBef>
              <a:spcAft>
                <a:spcPct val="0"/>
              </a:spcAft>
              <a:buClrTx/>
              <a:buSzTx/>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Achieved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86.58% accuracy</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showing improved robustness and context understanding.</a:t>
            </a:r>
          </a:p>
        </p:txBody>
      </p:sp>
    </p:spTree>
    <p:extLst>
      <p:ext uri="{BB962C8B-B14F-4D97-AF65-F5344CB8AC3E}">
        <p14:creationId xmlns:p14="http://schemas.microsoft.com/office/powerpoint/2010/main" val="35425170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A3869BA-65AB-6F4B-21CC-3C2368DCFC02}"/>
              </a:ext>
            </a:extLst>
          </p:cNvPr>
          <p:cNvSpPr>
            <a:spLocks noGrp="1"/>
          </p:cNvSpPr>
          <p:nvPr>
            <p:ph type="title"/>
          </p:nvPr>
        </p:nvSpPr>
        <p:spPr>
          <a:xfrm>
            <a:off x="1371597" y="348865"/>
            <a:ext cx="10044023" cy="877729"/>
          </a:xfrm>
        </p:spPr>
        <p:txBody>
          <a:bodyPr anchor="ctr">
            <a:normAutofit/>
          </a:bodyPr>
          <a:lstStyle/>
          <a:p>
            <a:r>
              <a:rPr lang="en-IN" sz="4000" b="1" dirty="0">
                <a:solidFill>
                  <a:srgbClr val="FFFFFF"/>
                </a:solidFill>
              </a:rPr>
              <a:t>Architecture Diagram</a:t>
            </a:r>
          </a:p>
        </p:txBody>
      </p:sp>
      <p:pic>
        <p:nvPicPr>
          <p:cNvPr id="6" name="Picture 5">
            <a:extLst>
              <a:ext uri="{FF2B5EF4-FFF2-40B4-BE49-F238E27FC236}">
                <a16:creationId xmlns:a16="http://schemas.microsoft.com/office/drawing/2014/main" id="{009D4E96-833A-289F-45D3-F73B30D62B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7017" y="2400529"/>
            <a:ext cx="11515725" cy="2971800"/>
          </a:xfrm>
          <a:prstGeom prst="rect">
            <a:avLst/>
          </a:prstGeom>
        </p:spPr>
      </p:pic>
    </p:spTree>
    <p:extLst>
      <p:ext uri="{BB962C8B-B14F-4D97-AF65-F5344CB8AC3E}">
        <p14:creationId xmlns:p14="http://schemas.microsoft.com/office/powerpoint/2010/main" val="2982605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4A0B7AE-B8EB-2FFE-F5F8-C8AFB7D247DF}"/>
              </a:ext>
            </a:extLst>
          </p:cNvPr>
          <p:cNvPicPr>
            <a:picLocks noChangeAspect="1"/>
          </p:cNvPicPr>
          <p:nvPr/>
        </p:nvPicPr>
        <p:blipFill>
          <a:blip r:embed="rId2"/>
          <a:stretch>
            <a:fillRect/>
          </a:stretch>
        </p:blipFill>
        <p:spPr>
          <a:xfrm>
            <a:off x="2332037" y="317870"/>
            <a:ext cx="7126288" cy="6222259"/>
          </a:xfrm>
          <a:prstGeom prst="rect">
            <a:avLst/>
          </a:prstGeom>
        </p:spPr>
      </p:pic>
    </p:spTree>
    <p:extLst>
      <p:ext uri="{BB962C8B-B14F-4D97-AF65-F5344CB8AC3E}">
        <p14:creationId xmlns:p14="http://schemas.microsoft.com/office/powerpoint/2010/main" val="29759956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712E947-0734-45F9-9C4F-41114EC3A3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85"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12B3290A-D3BF-4B87-B55B-FD9A98B4972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9030" cy="1576446"/>
            <a:chOff x="0" y="0"/>
            <a:chExt cx="12192002" cy="1576446"/>
          </a:xfrm>
        </p:grpSpPr>
        <p:sp>
          <p:nvSpPr>
            <p:cNvPr id="13" name="Rectangle 12">
              <a:extLst>
                <a:ext uri="{FF2B5EF4-FFF2-40B4-BE49-F238E27FC236}">
                  <a16:creationId xmlns:a16="http://schemas.microsoft.com/office/drawing/2014/main" id="{033A715A-0686-440A-8F40-441B42A660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761657F-19F2-425B-B7E9-0118CD13C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07778" y="-5307778"/>
              <a:ext cx="1576446" cy="12192002"/>
            </a:xfrm>
            <a:prstGeom prst="rect">
              <a:avLst/>
            </a:prstGeom>
            <a:gradFill>
              <a:gsLst>
                <a:gs pos="45000">
                  <a:schemeClr val="accent1">
                    <a:alpha val="0"/>
                  </a:schemeClr>
                </a:gs>
                <a:gs pos="99000">
                  <a:srgbClr val="000000">
                    <a:alpha val="74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E27B6634-79D3-4EDD-A77A-1065D6F3A4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A3869BA-65AB-6F4B-21CC-3C2368DCFC02}"/>
              </a:ext>
            </a:extLst>
          </p:cNvPr>
          <p:cNvSpPr>
            <a:spLocks noGrp="1"/>
          </p:cNvSpPr>
          <p:nvPr>
            <p:ph type="title"/>
          </p:nvPr>
        </p:nvSpPr>
        <p:spPr>
          <a:xfrm>
            <a:off x="1371598" y="319314"/>
            <a:ext cx="9477377" cy="1030515"/>
          </a:xfrm>
        </p:spPr>
        <p:txBody>
          <a:bodyPr anchor="ctr">
            <a:normAutofit/>
          </a:bodyPr>
          <a:lstStyle/>
          <a:p>
            <a:r>
              <a:rPr lang="en-IN" sz="4000" b="1" dirty="0">
                <a:solidFill>
                  <a:srgbClr val="FFFFFF"/>
                </a:solidFill>
              </a:rPr>
              <a:t>Hardware/Software Description</a:t>
            </a:r>
          </a:p>
        </p:txBody>
      </p:sp>
      <p:pic>
        <p:nvPicPr>
          <p:cNvPr id="5" name="Picture 4">
            <a:extLst>
              <a:ext uri="{FF2B5EF4-FFF2-40B4-BE49-F238E27FC236}">
                <a16:creationId xmlns:a16="http://schemas.microsoft.com/office/drawing/2014/main" id="{DE4F2C74-D186-8CB1-39E6-66702891596F}"/>
              </a:ext>
            </a:extLst>
          </p:cNvPr>
          <p:cNvPicPr>
            <a:picLocks noChangeAspect="1"/>
          </p:cNvPicPr>
          <p:nvPr/>
        </p:nvPicPr>
        <p:blipFill>
          <a:blip r:embed="rId2"/>
          <a:stretch>
            <a:fillRect/>
          </a:stretch>
        </p:blipFill>
        <p:spPr>
          <a:xfrm>
            <a:off x="2667785" y="4440195"/>
            <a:ext cx="1832057" cy="2013250"/>
          </a:xfrm>
          <a:prstGeom prst="rect">
            <a:avLst/>
          </a:prstGeom>
        </p:spPr>
      </p:pic>
      <p:sp>
        <p:nvSpPr>
          <p:cNvPr id="3" name="Content Placeholder 2">
            <a:extLst>
              <a:ext uri="{FF2B5EF4-FFF2-40B4-BE49-F238E27FC236}">
                <a16:creationId xmlns:a16="http://schemas.microsoft.com/office/drawing/2014/main" id="{EE7C1A48-C420-E3A7-895C-39DEA78977CE}"/>
              </a:ext>
            </a:extLst>
          </p:cNvPr>
          <p:cNvSpPr>
            <a:spLocks noGrp="1"/>
          </p:cNvSpPr>
          <p:nvPr>
            <p:ph idx="1"/>
          </p:nvPr>
        </p:nvSpPr>
        <p:spPr>
          <a:xfrm>
            <a:off x="871536" y="2033285"/>
            <a:ext cx="9496427" cy="1664720"/>
          </a:xfrm>
        </p:spPr>
        <p:txBody>
          <a:bodyPr>
            <a:noAutofit/>
          </a:bodyPr>
          <a:lstStyle/>
          <a:p>
            <a:pPr marL="0" indent="0">
              <a:buNone/>
            </a:pPr>
            <a:r>
              <a:rPr lang="en-IN" sz="2200" b="1" dirty="0">
                <a:latin typeface="Times New Roman" panose="02020603050405020304" pitchFamily="18" charset="0"/>
                <a:cs typeface="Times New Roman" panose="02020603050405020304" pitchFamily="18" charset="0"/>
              </a:rPr>
              <a:t>Programming Language:</a:t>
            </a:r>
          </a:p>
          <a:p>
            <a:pPr marL="342900" indent="-342900">
              <a:buFont typeface="+mj-lt"/>
              <a:buAutoNum type="arabicPeriod"/>
            </a:pPr>
            <a:r>
              <a:rPr lang="en-IN" sz="2200" dirty="0">
                <a:latin typeface="Times New Roman" panose="02020603050405020304" pitchFamily="18" charset="0"/>
                <a:cs typeface="Times New Roman" panose="02020603050405020304" pitchFamily="18" charset="0"/>
              </a:rPr>
              <a:t>Python </a:t>
            </a:r>
          </a:p>
          <a:p>
            <a:pPr marL="0" indent="0">
              <a:buNone/>
            </a:pPr>
            <a:endParaRPr lang="en-IN" sz="2200" b="1" dirty="0">
              <a:latin typeface="Times New Roman" panose="02020603050405020304" pitchFamily="18" charset="0"/>
              <a:cs typeface="Times New Roman" panose="02020603050405020304" pitchFamily="18" charset="0"/>
            </a:endParaRPr>
          </a:p>
          <a:p>
            <a:pPr marL="0" indent="0">
              <a:buNone/>
            </a:pPr>
            <a:r>
              <a:rPr lang="en-IN" sz="2200" b="1" dirty="0">
                <a:latin typeface="Times New Roman" panose="02020603050405020304" pitchFamily="18" charset="0"/>
                <a:cs typeface="Times New Roman" panose="02020603050405020304" pitchFamily="18" charset="0"/>
              </a:rPr>
              <a:t>Software IDE:</a:t>
            </a:r>
          </a:p>
          <a:p>
            <a:pPr marL="342900" indent="-342900">
              <a:buFont typeface="+mj-lt"/>
              <a:buAutoNum type="arabicPeriod"/>
            </a:pPr>
            <a:r>
              <a:rPr lang="en-IN" sz="2200" dirty="0">
                <a:latin typeface="Times New Roman" panose="02020603050405020304" pitchFamily="18" charset="0"/>
                <a:cs typeface="Times New Roman" panose="02020603050405020304" pitchFamily="18" charset="0"/>
              </a:rPr>
              <a:t>GOOGLE COLAB</a:t>
            </a:r>
          </a:p>
          <a:p>
            <a:pPr marL="0" indent="0">
              <a:buNone/>
            </a:pPr>
            <a:endParaRPr lang="en-IN" sz="2200" b="1" dirty="0">
              <a:latin typeface="Times New Roman" panose="02020603050405020304" pitchFamily="18" charset="0"/>
              <a:cs typeface="Times New Roman" panose="02020603050405020304" pitchFamily="18" charset="0"/>
            </a:endParaRPr>
          </a:p>
          <a:p>
            <a:pPr marL="0" indent="0">
              <a:buNone/>
            </a:pPr>
            <a:endParaRPr lang="en-IN" sz="22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BFBBACBB-D77B-9E4E-6B95-A557981F96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16537" y="4525436"/>
            <a:ext cx="2857500" cy="1600200"/>
          </a:xfrm>
          <a:prstGeom prst="rect">
            <a:avLst/>
          </a:prstGeom>
        </p:spPr>
      </p:pic>
    </p:spTree>
    <p:extLst>
      <p:ext uri="{BB962C8B-B14F-4D97-AF65-F5344CB8AC3E}">
        <p14:creationId xmlns:p14="http://schemas.microsoft.com/office/powerpoint/2010/main" val="8164493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712E947-0734-45F9-9C4F-41114EC3A3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85"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12B3290A-D3BF-4B87-B55B-FD9A98B4972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9030" cy="1576446"/>
            <a:chOff x="0" y="0"/>
            <a:chExt cx="12192002" cy="1576446"/>
          </a:xfrm>
        </p:grpSpPr>
        <p:sp>
          <p:nvSpPr>
            <p:cNvPr id="13" name="Rectangle 12">
              <a:extLst>
                <a:ext uri="{FF2B5EF4-FFF2-40B4-BE49-F238E27FC236}">
                  <a16:creationId xmlns:a16="http://schemas.microsoft.com/office/drawing/2014/main" id="{033A715A-0686-440A-8F40-441B42A660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761657F-19F2-425B-B7E9-0118CD13C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07778" y="-5307778"/>
              <a:ext cx="1576446" cy="12192002"/>
            </a:xfrm>
            <a:prstGeom prst="rect">
              <a:avLst/>
            </a:prstGeom>
            <a:gradFill>
              <a:gsLst>
                <a:gs pos="45000">
                  <a:schemeClr val="accent1">
                    <a:alpha val="0"/>
                  </a:schemeClr>
                </a:gs>
                <a:gs pos="99000">
                  <a:srgbClr val="000000">
                    <a:alpha val="74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E27B6634-79D3-4EDD-A77A-1065D6F3A4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A3869BA-65AB-6F4B-21CC-3C2368DCFC02}"/>
              </a:ext>
            </a:extLst>
          </p:cNvPr>
          <p:cNvSpPr>
            <a:spLocks noGrp="1"/>
          </p:cNvSpPr>
          <p:nvPr>
            <p:ph type="title"/>
          </p:nvPr>
        </p:nvSpPr>
        <p:spPr>
          <a:xfrm>
            <a:off x="1371598" y="319314"/>
            <a:ext cx="9477377" cy="1030515"/>
          </a:xfrm>
        </p:spPr>
        <p:txBody>
          <a:bodyPr anchor="ctr">
            <a:normAutofit/>
          </a:bodyPr>
          <a:lstStyle/>
          <a:p>
            <a:r>
              <a:rPr lang="en-IN" sz="4000" b="1" dirty="0">
                <a:solidFill>
                  <a:schemeClr val="bg1"/>
                </a:solidFill>
              </a:rPr>
              <a:t>Results </a:t>
            </a:r>
          </a:p>
        </p:txBody>
      </p:sp>
      <p:pic>
        <p:nvPicPr>
          <p:cNvPr id="7" name="Picture 6">
            <a:extLst>
              <a:ext uri="{FF2B5EF4-FFF2-40B4-BE49-F238E27FC236}">
                <a16:creationId xmlns:a16="http://schemas.microsoft.com/office/drawing/2014/main" id="{8CF51334-4A9E-B733-D209-DAC9946ECD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663082"/>
            <a:ext cx="5829300" cy="3260599"/>
          </a:xfrm>
          <a:prstGeom prst="rect">
            <a:avLst/>
          </a:prstGeom>
        </p:spPr>
      </p:pic>
      <p:pic>
        <p:nvPicPr>
          <p:cNvPr id="3" name="Picture 2">
            <a:extLst>
              <a:ext uri="{FF2B5EF4-FFF2-40B4-BE49-F238E27FC236}">
                <a16:creationId xmlns:a16="http://schemas.microsoft.com/office/drawing/2014/main" id="{96EA90A8-D475-41CE-C99B-8F6E7DBC8559}"/>
              </a:ext>
            </a:extLst>
          </p:cNvPr>
          <p:cNvPicPr>
            <a:picLocks noChangeAspect="1"/>
          </p:cNvPicPr>
          <p:nvPr/>
        </p:nvPicPr>
        <p:blipFill>
          <a:blip r:embed="rId3"/>
          <a:stretch>
            <a:fillRect/>
          </a:stretch>
        </p:blipFill>
        <p:spPr>
          <a:xfrm>
            <a:off x="6110285" y="2022838"/>
            <a:ext cx="5461927" cy="1952003"/>
          </a:xfrm>
          <a:prstGeom prst="rect">
            <a:avLst/>
          </a:prstGeom>
        </p:spPr>
      </p:pic>
      <p:pic>
        <p:nvPicPr>
          <p:cNvPr id="4" name="Picture 3">
            <a:extLst>
              <a:ext uri="{FF2B5EF4-FFF2-40B4-BE49-F238E27FC236}">
                <a16:creationId xmlns:a16="http://schemas.microsoft.com/office/drawing/2014/main" id="{AB63F2DE-6330-A8C9-1535-D41CAC440C55}"/>
              </a:ext>
            </a:extLst>
          </p:cNvPr>
          <p:cNvPicPr>
            <a:picLocks noChangeAspect="1"/>
          </p:cNvPicPr>
          <p:nvPr/>
        </p:nvPicPr>
        <p:blipFill>
          <a:blip r:embed="rId4"/>
          <a:stretch>
            <a:fillRect/>
          </a:stretch>
        </p:blipFill>
        <p:spPr>
          <a:xfrm>
            <a:off x="6446358" y="4318167"/>
            <a:ext cx="4654544" cy="1732653"/>
          </a:xfrm>
          <a:prstGeom prst="rect">
            <a:avLst/>
          </a:prstGeom>
        </p:spPr>
      </p:pic>
    </p:spTree>
    <p:extLst>
      <p:ext uri="{BB962C8B-B14F-4D97-AF65-F5344CB8AC3E}">
        <p14:creationId xmlns:p14="http://schemas.microsoft.com/office/powerpoint/2010/main" val="18984973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F8FD84D-E55B-50CE-B21B-EB9646D22E1F}"/>
              </a:ext>
            </a:extLst>
          </p:cNvPr>
          <p:cNvPicPr>
            <a:picLocks noChangeAspect="1"/>
          </p:cNvPicPr>
          <p:nvPr/>
        </p:nvPicPr>
        <p:blipFill>
          <a:blip r:embed="rId2"/>
          <a:stretch>
            <a:fillRect/>
          </a:stretch>
        </p:blipFill>
        <p:spPr>
          <a:xfrm>
            <a:off x="712348" y="1400460"/>
            <a:ext cx="5156639" cy="1874584"/>
          </a:xfrm>
          <a:prstGeom prst="rect">
            <a:avLst/>
          </a:prstGeom>
        </p:spPr>
      </p:pic>
      <p:pic>
        <p:nvPicPr>
          <p:cNvPr id="5" name="Picture 4">
            <a:extLst>
              <a:ext uri="{FF2B5EF4-FFF2-40B4-BE49-F238E27FC236}">
                <a16:creationId xmlns:a16="http://schemas.microsoft.com/office/drawing/2014/main" id="{62C85948-5043-ADCC-CE46-7C259ED051C5}"/>
              </a:ext>
            </a:extLst>
          </p:cNvPr>
          <p:cNvPicPr>
            <a:picLocks noChangeAspect="1"/>
          </p:cNvPicPr>
          <p:nvPr/>
        </p:nvPicPr>
        <p:blipFill>
          <a:blip r:embed="rId3"/>
          <a:stretch>
            <a:fillRect/>
          </a:stretch>
        </p:blipFill>
        <p:spPr>
          <a:xfrm>
            <a:off x="549969" y="3844212"/>
            <a:ext cx="5022452" cy="1874584"/>
          </a:xfrm>
          <a:prstGeom prst="rect">
            <a:avLst/>
          </a:prstGeom>
        </p:spPr>
      </p:pic>
      <p:pic>
        <p:nvPicPr>
          <p:cNvPr id="7" name="Picture 6">
            <a:extLst>
              <a:ext uri="{FF2B5EF4-FFF2-40B4-BE49-F238E27FC236}">
                <a16:creationId xmlns:a16="http://schemas.microsoft.com/office/drawing/2014/main" id="{CC2B29F2-436A-2588-D242-BE70F4A920F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79622" y="560502"/>
            <a:ext cx="3927669" cy="3143751"/>
          </a:xfrm>
          <a:prstGeom prst="rect">
            <a:avLst/>
          </a:prstGeom>
        </p:spPr>
      </p:pic>
      <p:pic>
        <p:nvPicPr>
          <p:cNvPr id="9" name="Picture 8">
            <a:extLst>
              <a:ext uri="{FF2B5EF4-FFF2-40B4-BE49-F238E27FC236}">
                <a16:creationId xmlns:a16="http://schemas.microsoft.com/office/drawing/2014/main" id="{BC0B37AE-2CDD-D20E-E111-89F394469E6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68987" y="3704253"/>
            <a:ext cx="5191869" cy="2923248"/>
          </a:xfrm>
          <a:prstGeom prst="rect">
            <a:avLst/>
          </a:prstGeom>
        </p:spPr>
      </p:pic>
    </p:spTree>
    <p:extLst>
      <p:ext uri="{BB962C8B-B14F-4D97-AF65-F5344CB8AC3E}">
        <p14:creationId xmlns:p14="http://schemas.microsoft.com/office/powerpoint/2010/main" val="32650440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712E947-0734-45F9-9C4F-41114EC3A3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85"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12B3290A-D3BF-4B87-B55B-FD9A98B4972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9030" cy="1576446"/>
            <a:chOff x="0" y="0"/>
            <a:chExt cx="12192002" cy="1576446"/>
          </a:xfrm>
        </p:grpSpPr>
        <p:sp>
          <p:nvSpPr>
            <p:cNvPr id="13" name="Rectangle 12">
              <a:extLst>
                <a:ext uri="{FF2B5EF4-FFF2-40B4-BE49-F238E27FC236}">
                  <a16:creationId xmlns:a16="http://schemas.microsoft.com/office/drawing/2014/main" id="{033A715A-0686-440A-8F40-441B42A660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761657F-19F2-425B-B7E9-0118CD13C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07778" y="-5307778"/>
              <a:ext cx="1576446" cy="12192002"/>
            </a:xfrm>
            <a:prstGeom prst="rect">
              <a:avLst/>
            </a:prstGeom>
            <a:gradFill>
              <a:gsLst>
                <a:gs pos="45000">
                  <a:schemeClr val="accent1">
                    <a:alpha val="0"/>
                  </a:schemeClr>
                </a:gs>
                <a:gs pos="99000">
                  <a:srgbClr val="000000">
                    <a:alpha val="74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E27B6634-79D3-4EDD-A77A-1065D6F3A4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A3869BA-65AB-6F4B-21CC-3C2368DCFC02}"/>
              </a:ext>
            </a:extLst>
          </p:cNvPr>
          <p:cNvSpPr>
            <a:spLocks noGrp="1"/>
          </p:cNvSpPr>
          <p:nvPr>
            <p:ph type="title"/>
          </p:nvPr>
        </p:nvSpPr>
        <p:spPr>
          <a:xfrm>
            <a:off x="1371598" y="319314"/>
            <a:ext cx="9477377" cy="1030515"/>
          </a:xfrm>
        </p:spPr>
        <p:txBody>
          <a:bodyPr anchor="ctr">
            <a:normAutofit/>
          </a:bodyPr>
          <a:lstStyle/>
          <a:p>
            <a:r>
              <a:rPr lang="en-IN" sz="4000" b="1" dirty="0">
                <a:solidFill>
                  <a:schemeClr val="bg1"/>
                </a:solidFill>
              </a:rPr>
              <a:t>Final Output</a:t>
            </a:r>
          </a:p>
        </p:txBody>
      </p:sp>
      <p:pic>
        <p:nvPicPr>
          <p:cNvPr id="4" name="Picture 3">
            <a:extLst>
              <a:ext uri="{FF2B5EF4-FFF2-40B4-BE49-F238E27FC236}">
                <a16:creationId xmlns:a16="http://schemas.microsoft.com/office/drawing/2014/main" id="{F26226D0-2421-6EEB-F474-A2F5B5A894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195" y="2191327"/>
            <a:ext cx="5594369" cy="3021040"/>
          </a:xfrm>
          <a:prstGeom prst="rect">
            <a:avLst/>
          </a:prstGeom>
        </p:spPr>
      </p:pic>
      <p:pic>
        <p:nvPicPr>
          <p:cNvPr id="6" name="Picture 5">
            <a:extLst>
              <a:ext uri="{FF2B5EF4-FFF2-40B4-BE49-F238E27FC236}">
                <a16:creationId xmlns:a16="http://schemas.microsoft.com/office/drawing/2014/main" id="{06CA46D6-7AAC-2D55-2033-99A7D673B2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64874" y="2109074"/>
            <a:ext cx="5528101" cy="3185546"/>
          </a:xfrm>
          <a:prstGeom prst="rect">
            <a:avLst/>
          </a:prstGeom>
        </p:spPr>
      </p:pic>
    </p:spTree>
    <p:extLst>
      <p:ext uri="{BB962C8B-B14F-4D97-AF65-F5344CB8AC3E}">
        <p14:creationId xmlns:p14="http://schemas.microsoft.com/office/powerpoint/2010/main" val="2573386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C262AC2-D050-5E93-1B68-1EA391A5D9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9168" y="1074306"/>
            <a:ext cx="5822301" cy="4709387"/>
          </a:xfrm>
          <a:prstGeom prst="rect">
            <a:avLst/>
          </a:prstGeom>
        </p:spPr>
      </p:pic>
      <p:pic>
        <p:nvPicPr>
          <p:cNvPr id="5" name="Picture 4">
            <a:extLst>
              <a:ext uri="{FF2B5EF4-FFF2-40B4-BE49-F238E27FC236}">
                <a16:creationId xmlns:a16="http://schemas.microsoft.com/office/drawing/2014/main" id="{6C793509-592A-089E-99FC-E0DCCF6A1B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1147490"/>
            <a:ext cx="5610268" cy="4563018"/>
          </a:xfrm>
          <a:prstGeom prst="rect">
            <a:avLst/>
          </a:prstGeom>
        </p:spPr>
      </p:pic>
    </p:spTree>
    <p:extLst>
      <p:ext uri="{BB962C8B-B14F-4D97-AF65-F5344CB8AC3E}">
        <p14:creationId xmlns:p14="http://schemas.microsoft.com/office/powerpoint/2010/main" val="11290585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3869BA-65AB-6F4B-21CC-3C2368DCFC02}"/>
              </a:ext>
            </a:extLst>
          </p:cNvPr>
          <p:cNvSpPr>
            <a:spLocks noGrp="1"/>
          </p:cNvSpPr>
          <p:nvPr>
            <p:ph type="title"/>
          </p:nvPr>
        </p:nvSpPr>
        <p:spPr>
          <a:xfrm>
            <a:off x="1148022" y="278535"/>
            <a:ext cx="9895951" cy="1033669"/>
          </a:xfrm>
        </p:spPr>
        <p:txBody>
          <a:bodyPr>
            <a:normAutofit/>
          </a:bodyPr>
          <a:lstStyle/>
          <a:p>
            <a:r>
              <a:rPr lang="en-US" sz="4000" b="1" dirty="0">
                <a:solidFill>
                  <a:srgbClr val="FFFFFF"/>
                </a:solidFill>
              </a:rPr>
              <a:t>C</a:t>
            </a:r>
            <a:r>
              <a:rPr lang="en-IN" sz="4000" b="1" dirty="0">
                <a:solidFill>
                  <a:srgbClr val="FFFFFF"/>
                </a:solidFill>
              </a:rPr>
              <a:t>ONCLUSION</a:t>
            </a:r>
          </a:p>
        </p:txBody>
      </p:sp>
      <p:sp>
        <p:nvSpPr>
          <p:cNvPr id="6" name="TextBox 5">
            <a:extLst>
              <a:ext uri="{FF2B5EF4-FFF2-40B4-BE49-F238E27FC236}">
                <a16:creationId xmlns:a16="http://schemas.microsoft.com/office/drawing/2014/main" id="{CEB153F6-112B-99FC-7D2D-7B1CD46DC359}"/>
              </a:ext>
            </a:extLst>
          </p:cNvPr>
          <p:cNvSpPr txBox="1"/>
          <p:nvPr/>
        </p:nvSpPr>
        <p:spPr>
          <a:xfrm>
            <a:off x="1736347" y="2143152"/>
            <a:ext cx="9178651" cy="2800767"/>
          </a:xfrm>
          <a:prstGeom prst="rect">
            <a:avLst/>
          </a:prstGeom>
          <a:noFill/>
        </p:spPr>
        <p:txBody>
          <a:bodyPr wrap="square" rtlCol="0">
            <a:spAutoFit/>
          </a:bodyPr>
          <a:lstStyle/>
          <a:p>
            <a:pPr algn="just"/>
            <a:r>
              <a:rPr lang="en-US" sz="2200" dirty="0">
                <a:latin typeface="Times New Roman" panose="02020603050405020304" pitchFamily="18" charset="0"/>
                <a:cs typeface="Times New Roman" panose="02020603050405020304" pitchFamily="18" charset="0"/>
              </a:rPr>
              <a:t>The proposed hybrid sentiment analysis system combines </a:t>
            </a:r>
            <a:r>
              <a:rPr lang="en-US" sz="2200" dirty="0" err="1">
                <a:latin typeface="Times New Roman" panose="02020603050405020304" pitchFamily="18" charset="0"/>
                <a:cs typeface="Times New Roman" panose="02020603050405020304" pitchFamily="18" charset="0"/>
              </a:rPr>
              <a:t>DistilBERT</a:t>
            </a:r>
            <a:r>
              <a:rPr lang="en-US" sz="2200" dirty="0">
                <a:latin typeface="Times New Roman" panose="02020603050405020304" pitchFamily="18" charset="0"/>
                <a:cs typeface="Times New Roman" panose="02020603050405020304" pitchFamily="18" charset="0"/>
              </a:rPr>
              <a:t>, Logistic Regression, and </a:t>
            </a:r>
            <a:r>
              <a:rPr lang="en-US" sz="2200" dirty="0" err="1">
                <a:latin typeface="Times New Roman" panose="02020603050405020304" pitchFamily="18" charset="0"/>
                <a:cs typeface="Times New Roman" panose="02020603050405020304" pitchFamily="18" charset="0"/>
              </a:rPr>
              <a:t>BiLSTM</a:t>
            </a:r>
            <a:r>
              <a:rPr lang="en-US" sz="2200" dirty="0">
                <a:latin typeface="Times New Roman" panose="02020603050405020304" pitchFamily="18" charset="0"/>
                <a:cs typeface="Times New Roman" panose="02020603050405020304" pitchFamily="18" charset="0"/>
              </a:rPr>
              <a:t> models with a </a:t>
            </a:r>
            <a:r>
              <a:rPr lang="en-US" sz="2200" dirty="0" err="1">
                <a:latin typeface="Times New Roman" panose="02020603050405020304" pitchFamily="18" charset="0"/>
                <a:cs typeface="Times New Roman" panose="02020603050405020304" pitchFamily="18" charset="0"/>
              </a:rPr>
              <a:t>RoBERTa</a:t>
            </a:r>
            <a:r>
              <a:rPr lang="en-US" sz="2200" dirty="0">
                <a:latin typeface="Times New Roman" panose="02020603050405020304" pitchFamily="18" charset="0"/>
                <a:cs typeface="Times New Roman" panose="02020603050405020304" pitchFamily="18" charset="0"/>
              </a:rPr>
              <a:t>-based sarcasm detector for more accurate sentiment interpretation. The weighted ensemble achieved 86.58% accuracy on Sentiment140, outperforming all individual models while maintaining balanced class performance. The framework effectively handles sarcasm, slang, and emojis, making it suitable for real-time social media analysis. Future work will extend the system to multilingual and fine-grained emotion recognition.</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692028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45A7366-DCD5-C6FB-6F6F-212B6A2AF479}"/>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A7CFC3B7-B9FE-6DEC-F6ED-5EFF36DE64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6C27E19-095D-74A9-144F-8B83EBF965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B5965999-051E-FEC9-18F0-E52CA86355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0BD8F85-DF54-D415-AE1E-D843FF68A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C84E2242-D289-335C-A9CF-FFD4A1913D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BBCA42-E9A4-1F5D-FBE5-5E068520D520}"/>
              </a:ext>
            </a:extLst>
          </p:cNvPr>
          <p:cNvSpPr>
            <a:spLocks noGrp="1"/>
          </p:cNvSpPr>
          <p:nvPr>
            <p:ph type="title"/>
          </p:nvPr>
        </p:nvSpPr>
        <p:spPr>
          <a:xfrm>
            <a:off x="627681" y="231551"/>
            <a:ext cx="9895951" cy="1033669"/>
          </a:xfrm>
        </p:spPr>
        <p:txBody>
          <a:bodyPr>
            <a:normAutofit/>
          </a:bodyPr>
          <a:lstStyle/>
          <a:p>
            <a:r>
              <a:rPr lang="en-IN" sz="4000" b="1" dirty="0">
                <a:solidFill>
                  <a:srgbClr val="FFFFFF"/>
                </a:solidFill>
              </a:rPr>
              <a:t>References</a:t>
            </a:r>
          </a:p>
        </p:txBody>
      </p:sp>
      <p:sp>
        <p:nvSpPr>
          <p:cNvPr id="5" name="TextBox 4">
            <a:extLst>
              <a:ext uri="{FF2B5EF4-FFF2-40B4-BE49-F238E27FC236}">
                <a16:creationId xmlns:a16="http://schemas.microsoft.com/office/drawing/2014/main" id="{80A974F6-253F-4ED8-635E-3D86E4604975}"/>
              </a:ext>
            </a:extLst>
          </p:cNvPr>
          <p:cNvSpPr txBox="1"/>
          <p:nvPr/>
        </p:nvSpPr>
        <p:spPr>
          <a:xfrm>
            <a:off x="459350" y="1810139"/>
            <a:ext cx="11147932" cy="5355312"/>
          </a:xfrm>
          <a:prstGeom prst="rect">
            <a:avLst/>
          </a:prstGeom>
          <a:noFill/>
        </p:spPr>
        <p:txBody>
          <a:bodyPr wrap="square" rtlCol="0">
            <a:spAutoFit/>
          </a:bodyPr>
          <a:lstStyle/>
          <a:p>
            <a:r>
              <a:rPr lang="en-IN" dirty="0"/>
              <a:t>[1] S. </a:t>
            </a:r>
            <a:r>
              <a:rPr lang="en-IN" dirty="0" err="1"/>
              <a:t>Baccianella</a:t>
            </a:r>
            <a:r>
              <a:rPr lang="en-IN" dirty="0"/>
              <a:t>, A. </a:t>
            </a:r>
            <a:r>
              <a:rPr lang="en-IN" dirty="0" err="1"/>
              <a:t>Esuli</a:t>
            </a:r>
            <a:r>
              <a:rPr lang="en-IN" dirty="0"/>
              <a:t>, and F. Sebastiani, “</a:t>
            </a:r>
            <a:r>
              <a:rPr lang="en-IN" dirty="0" err="1"/>
              <a:t>SentiWordNet</a:t>
            </a:r>
            <a:r>
              <a:rPr lang="en-IN" dirty="0"/>
              <a:t> 3.0: An Enhanced Lexical Resource for Sentiment Analysis and Opinion Mining,” </a:t>
            </a:r>
            <a:r>
              <a:rPr lang="en-IN" i="1" dirty="0"/>
              <a:t>LREC</a:t>
            </a:r>
            <a:r>
              <a:rPr lang="en-IN" dirty="0"/>
              <a:t>, 2010.</a:t>
            </a:r>
          </a:p>
          <a:p>
            <a:r>
              <a:rPr lang="en-IN" dirty="0"/>
              <a:t>[2] B. Liu, </a:t>
            </a:r>
            <a:r>
              <a:rPr lang="en-IN" i="1" dirty="0"/>
              <a:t>Sentiment Analysis and Opinion Mining</a:t>
            </a:r>
            <a:r>
              <a:rPr lang="en-IN" dirty="0"/>
              <a:t>, Morgan &amp; Claypool, 2012.</a:t>
            </a:r>
          </a:p>
          <a:p>
            <a:r>
              <a:rPr lang="en-IN" dirty="0"/>
              <a:t>[3] N. Jain and A. Kumar, “Comparison of Naïve Bayes and SVM Algorithm Based on Sentiment Analysis Using Review Dataset,” </a:t>
            </a:r>
            <a:r>
              <a:rPr lang="en-IN" i="1" dirty="0"/>
              <a:t>International Journal of Computer Science and Information Technologies (IJCSIT)</a:t>
            </a:r>
            <a:r>
              <a:rPr lang="en-IN" dirty="0"/>
              <a:t>, 2020.</a:t>
            </a:r>
          </a:p>
          <a:p>
            <a:r>
              <a:rPr lang="en-IN" dirty="0"/>
              <a:t>[4] Md. Rahman et al., “</a:t>
            </a:r>
            <a:r>
              <a:rPr lang="en-IN" dirty="0" err="1"/>
              <a:t>RoBERTa-BiLSTM</a:t>
            </a:r>
            <a:r>
              <a:rPr lang="en-IN" dirty="0"/>
              <a:t>: A Context-Aware Hybrid Model for Sentiment Analysis,” </a:t>
            </a:r>
            <a:r>
              <a:rPr lang="en-IN" i="1" dirty="0" err="1"/>
              <a:t>arXiv</a:t>
            </a:r>
            <a:r>
              <a:rPr lang="en-IN" i="1" dirty="0"/>
              <a:t> preprint arXiv:2406.00367v2</a:t>
            </a:r>
            <a:r>
              <a:rPr lang="en-IN" dirty="0"/>
              <a:t>, 2024.</a:t>
            </a:r>
          </a:p>
          <a:p>
            <a:r>
              <a:rPr lang="en-IN" dirty="0"/>
              <a:t>[5] P. Wang et al., “Exploring LSTM Networks for Sentiment Classification,” </a:t>
            </a:r>
            <a:r>
              <a:rPr lang="en-IN" i="1" dirty="0"/>
              <a:t>IEEE Access</a:t>
            </a:r>
            <a:r>
              <a:rPr lang="en-IN" dirty="0"/>
              <a:t>, 2018.</a:t>
            </a:r>
          </a:p>
          <a:p>
            <a:r>
              <a:rPr lang="en-IN" dirty="0"/>
              <a:t>[6] S. Hochreiter and J. </a:t>
            </a:r>
            <a:r>
              <a:rPr lang="en-IN" dirty="0" err="1"/>
              <a:t>Schmidhuber</a:t>
            </a:r>
            <a:r>
              <a:rPr lang="en-IN" dirty="0"/>
              <a:t>, “Long Short-Term Memory,” </a:t>
            </a:r>
            <a:r>
              <a:rPr lang="en-IN" i="1" dirty="0"/>
              <a:t>Neural Computation</a:t>
            </a:r>
            <a:r>
              <a:rPr lang="en-IN" dirty="0"/>
              <a:t>, vol. 9, pp. 1735–1780, 1997.</a:t>
            </a:r>
          </a:p>
          <a:p>
            <a:r>
              <a:rPr lang="en-IN" dirty="0"/>
              <a:t>[7] H. Li and X. Zhang, “Multimodal Sentimental Classification Using Long Short-Term Memory,” </a:t>
            </a:r>
            <a:r>
              <a:rPr lang="en-IN" i="1" dirty="0"/>
              <a:t>IEEE Conference Proceedings</a:t>
            </a:r>
            <a:r>
              <a:rPr lang="en-IN" dirty="0"/>
              <a:t>, 2021.</a:t>
            </a:r>
          </a:p>
          <a:p>
            <a:r>
              <a:rPr lang="en-IN" dirty="0"/>
              <a:t>[8] Y. </a:t>
            </a:r>
            <a:r>
              <a:rPr lang="en-IN" dirty="0" err="1"/>
              <a:t>Bouassida</a:t>
            </a:r>
            <a:r>
              <a:rPr lang="en-IN" dirty="0"/>
              <a:t> and H. </a:t>
            </a:r>
            <a:r>
              <a:rPr lang="en-IN" dirty="0" err="1"/>
              <a:t>Mezali</a:t>
            </a:r>
            <a:r>
              <a:rPr lang="en-IN" dirty="0"/>
              <a:t>, “Enhancing Twitter Sentiment Analysis Using Hybrid Transformer and Sequence Models,” </a:t>
            </a:r>
            <a:r>
              <a:rPr lang="en-IN" i="1" dirty="0"/>
              <a:t>IEEE Conference on Intelligent Systems</a:t>
            </a:r>
            <a:r>
              <a:rPr lang="en-IN" dirty="0"/>
              <a:t>, 2024.</a:t>
            </a:r>
          </a:p>
          <a:p>
            <a:r>
              <a:rPr lang="en-IN" dirty="0"/>
              <a:t>[9] A. Khan, M. Ali, et al., “Sentiment Analysis of Emoji-Fused Reviews Using Machine Learning and BERT,” </a:t>
            </a:r>
            <a:r>
              <a:rPr lang="en-IN" i="1" dirty="0"/>
              <a:t>Scientific Reports</a:t>
            </a:r>
            <a:r>
              <a:rPr lang="en-IN" dirty="0"/>
              <a:t>, vol. 15, no. 2, 2025.</a:t>
            </a:r>
          </a:p>
          <a:p>
            <a:r>
              <a:rPr lang="en-IN" dirty="0"/>
              <a:t>[10] A. S. Talaat, “Sentiment Analysis Classification System Using Hybrid BERT-</a:t>
            </a:r>
            <a:r>
              <a:rPr lang="en-IN" dirty="0" err="1"/>
              <a:t>BiLSTM</a:t>
            </a:r>
            <a:r>
              <a:rPr lang="en-IN" dirty="0"/>
              <a:t>-</a:t>
            </a:r>
            <a:r>
              <a:rPr lang="en-IN" dirty="0" err="1"/>
              <a:t>BiGRU</a:t>
            </a:r>
            <a:r>
              <a:rPr lang="en-IN" dirty="0"/>
              <a:t> Model,” </a:t>
            </a:r>
            <a:r>
              <a:rPr lang="en-IN" i="1" dirty="0"/>
              <a:t>Journal of Big Data</a:t>
            </a:r>
            <a:r>
              <a:rPr lang="en-IN" dirty="0"/>
              <a:t>, 2023.</a:t>
            </a:r>
          </a:p>
          <a:p>
            <a:endParaRPr lang="en-IN" dirty="0"/>
          </a:p>
        </p:txBody>
      </p:sp>
    </p:spTree>
    <p:extLst>
      <p:ext uri="{BB962C8B-B14F-4D97-AF65-F5344CB8AC3E}">
        <p14:creationId xmlns:p14="http://schemas.microsoft.com/office/powerpoint/2010/main" val="11852757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9458FB5B-33DB-8F4F-1BFA-3A5DF2C3A0B2}"/>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lang="en-US" sz="4800" b="1" kern="1200" dirty="0">
                <a:solidFill>
                  <a:srgbClr val="FFFFFF"/>
                </a:solidFill>
                <a:latin typeface="+mj-lt"/>
                <a:ea typeface="+mj-ea"/>
                <a:cs typeface="+mj-cs"/>
              </a:rPr>
              <a:t>Thank You</a:t>
            </a:r>
          </a:p>
        </p:txBody>
      </p:sp>
    </p:spTree>
    <p:extLst>
      <p:ext uri="{BB962C8B-B14F-4D97-AF65-F5344CB8AC3E}">
        <p14:creationId xmlns:p14="http://schemas.microsoft.com/office/powerpoint/2010/main" val="838796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TM04033921[[fn=Damask]]</Template>
  <TotalTime>921</TotalTime>
  <Words>1272</Words>
  <Application>Microsoft Office PowerPoint</Application>
  <PresentationFormat>Widescreen</PresentationFormat>
  <Paragraphs>102</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Aptos</vt:lpstr>
      <vt:lpstr>Aptos Display</vt:lpstr>
      <vt:lpstr>Arial</vt:lpstr>
      <vt:lpstr>Times New Roman</vt:lpstr>
      <vt:lpstr>Wingdings</vt:lpstr>
      <vt:lpstr>Office Theme</vt:lpstr>
      <vt:lpstr>PowerPoint Presentation</vt:lpstr>
      <vt:lpstr>CONTENTS</vt:lpstr>
      <vt:lpstr>Introduction</vt:lpstr>
      <vt:lpstr>Problem Statement</vt:lpstr>
      <vt:lpstr>Literature Review</vt:lpstr>
      <vt:lpstr>Literature Review</vt:lpstr>
      <vt:lpstr>Literature Review</vt:lpstr>
      <vt:lpstr>Objectives</vt:lpstr>
      <vt:lpstr>Proposed System</vt:lpstr>
      <vt:lpstr>Architecture Diagram</vt:lpstr>
      <vt:lpstr>PowerPoint Presentation</vt:lpstr>
      <vt:lpstr>Hardware/Software Description</vt:lpstr>
      <vt:lpstr>Results </vt:lpstr>
      <vt:lpstr>PowerPoint Presentation</vt:lpstr>
      <vt:lpstr>Final Output</vt:lpstr>
      <vt:lpstr>PowerPoint Presentation</vt:lpstr>
      <vt:lpstr>CONCLUSION</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 Tech ECE (ICS) Set Conference Review-1</dc:title>
  <dc:creator>KUMAR P.A.</dc:creator>
  <cp:lastModifiedBy>Madakasira Hari Srinivas</cp:lastModifiedBy>
  <cp:revision>44</cp:revision>
  <dcterms:created xsi:type="dcterms:W3CDTF">2024-10-23T13:09:32Z</dcterms:created>
  <dcterms:modified xsi:type="dcterms:W3CDTF">2025-11-06T09:19:12Z</dcterms:modified>
</cp:coreProperties>
</file>